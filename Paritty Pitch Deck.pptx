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72"/>
    <p:restoredTop sz="94610"/>
  </p:normalViewPr>
  <p:slideViewPr>
    <p:cSldViewPr snapToGrid="0" snapToObjects="1">
      <p:cViewPr>
        <p:scale>
          <a:sx n="157" d="100"/>
          <a:sy n="157" d="100"/>
        </p:scale>
        <p:origin x="160"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9544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Paritty cleans clinical trial data every day instead of at the end, and forecasts the database lock date. Gemini drafts, deterministic code verifies, and a person approves. Tiger Data's Postgres runs search, time series and evaluation forks in one place.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data cleaning starts after the last patient finishes. The industry average from the Tufts Center is 36+ days from last patient last visit to database lock, and for a blockbuster drug each day of delay can cost up to $1,000,000 in lost patent life. Meanwhile patients wait longer for therapies.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trial has 404 patients across 24 sites, feeding the EDC, an outside lab and a separate safety database. Traditionally errors pile up silently until the end. Paritty audits every new visit within 24 hours, drafts queries while memories are fresh, reconciles the databases daily and forecasts the lock date with a Monte Carlo simulation.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Today page shows decisions waiting, the most likely lock date and how many lock conditions are met. Each of the five roles starts from its own queue in the sidebar, and everything else stays one click away.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than 25 deterministic checks cover chronology, physiological limits, protocol adherence and duplicates. Every issue gets a critical-to-quality priority so a misspelled surname scores 0.1 and an unreported death scores 0.95. Gemini drafts the query and its translation, deterministic code verifies it, and a person approves before anything is sent.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Doctors report serious adverse events to two systems, and if terms, dates or severity disagree the filing is at risk. Paritty matches events with fuzzy string matching and synonyms, triages differences as acceptable, actionable or critical, and compares clinic and central lab values. The medical review module watches blood panels with an eDISH plot for Hy's Law and grades lab shifts with CTCAE, Grade 1 mild to Grade 4 life-threatening.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monitoring tracks eight key risk indicators and a trained model scores each site 0 to 100, then drafts a visit agenda, a follow-up letter and a scorecard PDF for a person to approve. The lock forecast runs 1,000 Monte Carlo simulations, reports P10, P50 and P90, ranks blockers by days saved and lets a director test what-ifs, such as sending two extra monitors to a slow site.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assistant blends BM25 and vector search and escalates anything needing medical judgment. The data hub resolves conflicting identifiers and turns natural-language questions into guarded read-only SQL. The agent proposes actions scored by the what-if forecast, and the evaluation harness scores every detector against 238 planted anomalies it cannot see.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Gemini earns its place. Detection is deterministic. Gemini 2.5 Flash and Pro draft queries and translations, adjudicate borderline term matches, answer protocol questions with exact quotes, assess causality with cited evidence, and turn plain-English questions into read-only SQL; gemini-embedding-2 powers semantic search. Every Gemini claim must carry citations and pass a deterministic verifier or it is blocked. Gemini never sees the treatment arm and never produces executable logic. A person approves before anything leaves the platform. Note: some Gemini paths were not recorded against live output because of the free-tier quota, so templates stand in for them in replay mode.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Tiger Data's Postgres is the single store for the whole system. TimescaleDB hypertables hold visits and labs over time, pgvectorscale holds embeddings, and pg_textsearch provides BM25, and hybrid search merges the two. The evaluation harness forks the database, runs a multi-week simulation, scores it against the planted answer key and deletes the fork, so production data is never touched. The same migrations run unchanged on a Tiger Cloud service and on local Docker. Honest note: a Tiger fork is a whole new service and took about 28 seconds on the free plan, versus a fraction of a second for a local template fork, so Tiger forks are best for a final measured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guardrails: humans approve everything, the treatment arm stays blinded, every Gemini claim is cited and verified, wording stays neutral, and every state change is audited. Then point judges to the 4-minute walkthrough video in the repository.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A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53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13343C"/>
                </a:solidFill>
                <a:latin typeface="Inter" pitchFamily="34" charset="0"/>
                <a:ea typeface="Inter" pitchFamily="34" charset="-122"/>
                <a:cs typeface="Inter"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925290"/>
            <a:ext cx="10566400" cy="4119910"/>
          </a:xfrm>
          <a:prstGeom prst="rect">
            <a:avLst/>
          </a:prstGeom>
          <a:noFill/>
          <a:ln/>
        </p:spPr>
        <p:txBody>
          <a:bodyPr wrap="square" lIns="0" tIns="0" rIns="0" bIns="0" rtlCol="0" anchor="t"/>
          <a:lstStyle>
            <a:lvl1pPr marL="0" indent="0" algn="l">
              <a:lnSpc>
                <a:spcPct val="140000"/>
              </a:lnSpc>
              <a:buNone/>
              <a:defRPr lang="en-US" sz="1600" dirty="0">
                <a:solidFill>
                  <a:srgbClr val="13343C"/>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53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13343C"/>
                </a:solidFill>
                <a:latin typeface="Inter" pitchFamily="34" charset="0"/>
                <a:ea typeface="Inter" pitchFamily="34" charset="-122"/>
                <a:cs typeface="Inter"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925290"/>
            <a:ext cx="10566400" cy="4119910"/>
          </a:xfrm>
          <a:prstGeom prst="rect">
            <a:avLst/>
          </a:prstGeom>
          <a:noFill/>
          <a:ln/>
        </p:spPr>
        <p:txBody>
          <a:bodyPr wrap="square" lIns="0" tIns="0" rIns="0" bIns="0" rtlCol="0" anchor="t"/>
          <a:lstStyle>
            <a:lvl1pPr marL="0" indent="0" algn="l">
              <a:lnSpc>
                <a:spcPct val="140000"/>
              </a:lnSpc>
              <a:buNone/>
              <a:defRPr lang="en-US" sz="1600" dirty="0">
                <a:solidFill>
                  <a:srgbClr val="13343C"/>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A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53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13343C"/>
                </a:solidFill>
                <a:latin typeface="Inter" pitchFamily="34" charset="0"/>
                <a:ea typeface="Inter" pitchFamily="34" charset="-122"/>
                <a:cs typeface="Inter"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925290"/>
            <a:ext cx="10566400" cy="4119910"/>
          </a:xfrm>
          <a:prstGeom prst="rect">
            <a:avLst/>
          </a:prstGeom>
          <a:noFill/>
          <a:ln/>
        </p:spPr>
        <p:txBody>
          <a:bodyPr wrap="square" lIns="0" tIns="0" rIns="0" bIns="0" rtlCol="0" anchor="t"/>
          <a:lstStyle>
            <a:lvl1pPr marL="0" indent="0" algn="l">
              <a:lnSpc>
                <a:spcPct val="140000"/>
              </a:lnSpc>
              <a:buNone/>
              <a:defRPr lang="en-US" sz="1600" dirty="0">
                <a:solidFill>
                  <a:srgbClr val="13343C"/>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github.com/moh0405/parity/tree/brag-video-3min/brag-demo-3m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6878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E7490"/>
                </a:solidFill>
                <a:latin typeface="Inter" pitchFamily="34" charset="0"/>
                <a:ea typeface="Inter" pitchFamily="34" charset="-122"/>
                <a:cs typeface="Inter" pitchFamily="34" charset="-120"/>
              </a:rPr>
              <a:t>HACKRU 2026 · REGENERON CLINICAL CHALLENGE</a:t>
            </a:r>
            <a:endParaRPr lang="en-US" sz="1400" dirty="0"/>
          </a:p>
        </p:txBody>
      </p:sp>
      <p:sp>
        <p:nvSpPr>
          <p:cNvPr id="3" name="Text 1"/>
          <p:cNvSpPr>
            <a:spLocks noGrp="1"/>
          </p:cNvSpPr>
          <p:nvPr>
            <p:ph type="title"/>
          </p:nvPr>
        </p:nvSpPr>
        <p:spPr>
          <a:xfrm>
            <a:off x="812800" y="211455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i="0" kern="0" spc="-500" dirty="0">
                <a:solidFill>
                  <a:srgbClr val="13343C"/>
                </a:solidFill>
                <a:latin typeface="Inter" pitchFamily="34" charset="0"/>
                <a:ea typeface="Inter" pitchFamily="34" charset="-122"/>
                <a:cs typeface="Inter" pitchFamily="34" charset="-120"/>
              </a:rPr>
              <a:t>Paritty</a:t>
            </a:r>
            <a:endParaRPr lang="en-US" sz="13000" dirty="0"/>
          </a:p>
        </p:txBody>
      </p:sp>
      <p:sp>
        <p:nvSpPr>
          <p:cNvPr id="4" name="Text 2"/>
          <p:cNvSpPr/>
          <p:nvPr/>
        </p:nvSpPr>
        <p:spPr>
          <a:xfrm>
            <a:off x="812800" y="3943350"/>
            <a:ext cx="10883392"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4A626D"/>
                </a:solidFill>
                <a:latin typeface="Inter" pitchFamily="34" charset="0"/>
                <a:ea typeface="Inter" pitchFamily="34" charset="-122"/>
                <a:cs typeface="Inter" pitchFamily="34" charset="-120"/>
              </a:rPr>
              <a:t>Continuous clean-to-lock copilot for clinical trials</a:t>
            </a:r>
            <a:endParaRPr lang="en-US" sz="2800" dirty="0"/>
          </a:p>
        </p:txBody>
      </p:sp>
      <p:sp>
        <p:nvSpPr>
          <p:cNvPr id="5" name="Text 3"/>
          <p:cNvSpPr/>
          <p:nvPr/>
        </p:nvSpPr>
        <p:spPr>
          <a:xfrm>
            <a:off x="812800" y="4700240"/>
            <a:ext cx="2162324" cy="469900"/>
          </a:xfrm>
          <a:prstGeom prst="roundRect">
            <a:avLst>
              <a:gd name="adj" fmla="val 50000"/>
            </a:avLst>
          </a:prstGeom>
          <a:solidFill>
            <a:srgbClr val="0E7490"/>
          </a:solidFill>
          <a:ln/>
        </p:spPr>
        <p:txBody>
          <a:bodyPr wrap="none" lIns="0" tIns="0" rIns="0" bIns="0" rtlCol="0" anchor="ctr">
            <a:normAutofit/>
          </a:bodyPr>
          <a:lstStyle/>
          <a:p>
            <a:pPr marL="0" indent="0" algn="ctr">
              <a:lnSpc>
                <a:spcPts val="2100"/>
              </a:lnSpc>
              <a:buNone/>
            </a:pPr>
            <a:r>
              <a:rPr lang="en-US" sz="1500" b="1" dirty="0">
                <a:solidFill>
                  <a:srgbClr val="FFFFFF"/>
                </a:solidFill>
                <a:latin typeface="Inter" pitchFamily="34" charset="0"/>
                <a:ea typeface="Inter" pitchFamily="34" charset="-122"/>
                <a:cs typeface="Inter" pitchFamily="34" charset="-120"/>
              </a:rPr>
              <a:t>Best Use of Gemini</a:t>
            </a:r>
            <a:endParaRPr lang="en-US" sz="1500" dirty="0"/>
          </a:p>
        </p:txBody>
      </p:sp>
      <p:sp>
        <p:nvSpPr>
          <p:cNvPr id="6" name="Text 4"/>
          <p:cNvSpPr/>
          <p:nvPr/>
        </p:nvSpPr>
        <p:spPr>
          <a:xfrm>
            <a:off x="3102124" y="4700240"/>
            <a:ext cx="2475012" cy="469900"/>
          </a:xfrm>
          <a:prstGeom prst="roundRect">
            <a:avLst>
              <a:gd name="adj" fmla="val 50000"/>
            </a:avLst>
          </a:prstGeom>
          <a:solidFill>
            <a:srgbClr val="13343C"/>
          </a:solidFill>
          <a:ln/>
        </p:spPr>
        <p:txBody>
          <a:bodyPr wrap="none" lIns="0" tIns="0" rIns="0" bIns="0" rtlCol="0" anchor="ctr">
            <a:normAutofit/>
          </a:bodyPr>
          <a:lstStyle/>
          <a:p>
            <a:pPr marL="0" indent="0" algn="ctr">
              <a:lnSpc>
                <a:spcPts val="2100"/>
              </a:lnSpc>
              <a:buNone/>
            </a:pPr>
            <a:r>
              <a:rPr lang="en-US" sz="1500" b="1" dirty="0">
                <a:solidFill>
                  <a:srgbClr val="F3FAFB"/>
                </a:solidFill>
                <a:latin typeface="Inter" pitchFamily="34" charset="0"/>
                <a:ea typeface="Inter" pitchFamily="34" charset="-122"/>
                <a:cs typeface="Inter" pitchFamily="34" charset="-120"/>
              </a:rPr>
              <a:t>Best Use of Tiger Data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THE PROBLEM</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Cleanup starts too late.</a:t>
            </a:r>
            <a:endParaRPr lang="en-US" sz="3400" dirty="0"/>
          </a:p>
        </p:txBody>
      </p:sp>
      <p:sp>
        <p:nvSpPr>
          <p:cNvPr id="4" name="Text 2"/>
          <p:cNvSpPr/>
          <p:nvPr/>
        </p:nvSpPr>
        <p:spPr>
          <a:xfrm>
            <a:off x="812800" y="2519660"/>
            <a:ext cx="6278880" cy="1930400"/>
          </a:xfrm>
          <a:prstGeom prst="rect">
            <a:avLst/>
          </a:prstGeom>
          <a:noFill/>
          <a:ln/>
        </p:spPr>
        <p:txBody>
          <a:bodyPr wrap="square" lIns="0" tIns="0" rIns="0" bIns="0" rtlCol="0" anchor="t">
            <a:normAutofit/>
          </a:bodyPr>
          <a:lstStyle/>
          <a:p>
            <a:pPr marL="0" indent="0" algn="l">
              <a:lnSpc>
                <a:spcPts val="15000"/>
              </a:lnSpc>
              <a:buNone/>
            </a:pPr>
            <a:r>
              <a:rPr lang="en-US" sz="15000" b="1" kern="0" spc="-600" dirty="0">
                <a:solidFill>
                  <a:srgbClr val="0E7490"/>
                </a:solidFill>
                <a:latin typeface="Inter" pitchFamily="34" charset="0"/>
                <a:ea typeface="Inter" pitchFamily="34" charset="-122"/>
                <a:cs typeface="Inter" pitchFamily="34" charset="-120"/>
              </a:rPr>
              <a:t>36+</a:t>
            </a:r>
            <a:endParaRPr lang="en-US" sz="15000" dirty="0"/>
          </a:p>
        </p:txBody>
      </p:sp>
      <p:sp>
        <p:nvSpPr>
          <p:cNvPr id="5" name="Text 3"/>
          <p:cNvSpPr/>
          <p:nvPr/>
        </p:nvSpPr>
        <p:spPr>
          <a:xfrm>
            <a:off x="812800" y="4500860"/>
            <a:ext cx="6278880" cy="69592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3343C"/>
                </a:solidFill>
                <a:latin typeface="Inter" pitchFamily="34" charset="0"/>
                <a:ea typeface="Inter" pitchFamily="34" charset="-122"/>
                <a:cs typeface="Inter" pitchFamily="34" charset="-120"/>
              </a:rPr>
              <a:t>days between the last patient's last visit and database lock</a:t>
            </a:r>
            <a:endParaRPr lang="en-US" sz="2200" dirty="0"/>
          </a:p>
        </p:txBody>
      </p:sp>
      <p:sp>
        <p:nvSpPr>
          <p:cNvPr id="6" name="Shape 4"/>
          <p:cNvSpPr/>
          <p:nvPr/>
        </p:nvSpPr>
        <p:spPr>
          <a:xfrm>
            <a:off x="7318375" y="2526655"/>
            <a:ext cx="4057650" cy="1431230"/>
          </a:xfrm>
          <a:prstGeom prst="roundRect">
            <a:avLst>
              <a:gd name="adj" fmla="val 8652"/>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7" name="Text 5"/>
          <p:cNvSpPr/>
          <p:nvPr/>
        </p:nvSpPr>
        <p:spPr>
          <a:xfrm>
            <a:off x="7550150" y="2733030"/>
            <a:ext cx="370192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26D"/>
                </a:solidFill>
                <a:latin typeface="Inter" pitchFamily="34" charset="0"/>
                <a:ea typeface="Inter" pitchFamily="34" charset="-122"/>
                <a:cs typeface="Inter" pitchFamily="34" charset="-120"/>
              </a:rPr>
              <a:t>Up to</a:t>
            </a:r>
            <a:endParaRPr lang="en-US" sz="1400" dirty="0"/>
          </a:p>
        </p:txBody>
      </p:sp>
      <p:sp>
        <p:nvSpPr>
          <p:cNvPr id="8" name="Text 6"/>
          <p:cNvSpPr/>
          <p:nvPr/>
        </p:nvSpPr>
        <p:spPr>
          <a:xfrm>
            <a:off x="7550150" y="3032720"/>
            <a:ext cx="3701923" cy="444500"/>
          </a:xfrm>
          <a:prstGeom prst="rect">
            <a:avLst/>
          </a:prstGeom>
          <a:noFill/>
          <a:ln/>
        </p:spPr>
        <p:txBody>
          <a:bodyPr wrap="square" lIns="0" tIns="0" rIns="0" bIns="0" rtlCol="0" anchor="t">
            <a:normAutofit/>
          </a:bodyPr>
          <a:lstStyle/>
          <a:p>
            <a:pPr marL="0" indent="0" algn="l">
              <a:lnSpc>
                <a:spcPts val="3300"/>
              </a:lnSpc>
              <a:buNone/>
            </a:pPr>
            <a:r>
              <a:rPr lang="en-US" sz="3000" b="1" kern="0" spc="-100" dirty="0">
                <a:solidFill>
                  <a:srgbClr val="13343C"/>
                </a:solidFill>
                <a:latin typeface="Inter" pitchFamily="34" charset="0"/>
                <a:ea typeface="Inter" pitchFamily="34" charset="-122"/>
                <a:cs typeface="Inter" pitchFamily="34" charset="-120"/>
              </a:rPr>
              <a:t>$1,000,000 a day</a:t>
            </a:r>
            <a:endParaRPr lang="en-US" sz="3000" dirty="0"/>
          </a:p>
        </p:txBody>
      </p:sp>
      <p:sp>
        <p:nvSpPr>
          <p:cNvPr id="9" name="Text 7"/>
          <p:cNvSpPr/>
          <p:nvPr/>
        </p:nvSpPr>
        <p:spPr>
          <a:xfrm>
            <a:off x="7550150" y="3502620"/>
            <a:ext cx="370192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26D"/>
                </a:solidFill>
                <a:latin typeface="Inter" pitchFamily="34" charset="0"/>
                <a:ea typeface="Inter" pitchFamily="34" charset="-122"/>
                <a:cs typeface="Inter" pitchFamily="34" charset="-120"/>
              </a:rPr>
              <a:t>in lost patent life for a blockbuster drug</a:t>
            </a:r>
            <a:endParaRPr lang="en-US" sz="1400" dirty="0"/>
          </a:p>
        </p:txBody>
      </p:sp>
      <p:sp>
        <p:nvSpPr>
          <p:cNvPr id="10" name="Text 8"/>
          <p:cNvSpPr/>
          <p:nvPr/>
        </p:nvSpPr>
        <p:spPr>
          <a:xfrm>
            <a:off x="7318375" y="4116636"/>
            <a:ext cx="4057650" cy="1047750"/>
          </a:xfrm>
          <a:prstGeom prst="roundRect">
            <a:avLst>
              <a:gd name="adj" fmla="val 11818"/>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wrap="square" lIns="195508" tIns="170108" rIns="87685" bIns="144708" rtlCol="0" anchor="t">
            <a:normAutofit/>
          </a:bodyPr>
          <a:lstStyle/>
          <a:p>
            <a:pPr marL="0" indent="0" algn="l">
              <a:lnSpc>
                <a:spcPts val="2500"/>
              </a:lnSpc>
              <a:buNone/>
            </a:pPr>
            <a:r>
              <a:rPr lang="en-US" sz="2000" b="1" dirty="0">
                <a:solidFill>
                  <a:srgbClr val="13343C"/>
                </a:solidFill>
                <a:latin typeface="Inter" pitchFamily="34" charset="0"/>
                <a:ea typeface="Inter" pitchFamily="34" charset="-122"/>
                <a:cs typeface="Inter" pitchFamily="34" charset="-120"/>
              </a:rPr>
              <a:t>Patients wait longer for life-saving therapies.</a:t>
            </a:r>
            <a:endParaRPr lang="en-US" sz="20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Source: Tufts Center for Drug Development industry average, last patient last visit to database lock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THE IDEA</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Clean continuously, not at the end.</a:t>
            </a:r>
            <a:endParaRPr lang="en-US" sz="3400" dirty="0"/>
          </a:p>
        </p:txBody>
      </p:sp>
      <p:sp>
        <p:nvSpPr>
          <p:cNvPr id="4" name="Text 2"/>
          <p:cNvSpPr/>
          <p:nvPr/>
        </p:nvSpPr>
        <p:spPr>
          <a:xfrm>
            <a:off x="1041400" y="1823690"/>
            <a:ext cx="501002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626D"/>
                </a:solidFill>
                <a:latin typeface="Inter" pitchFamily="34" charset="0"/>
                <a:ea typeface="Inter" pitchFamily="34" charset="-122"/>
                <a:cs typeface="Inter" pitchFamily="34" charset="-120"/>
              </a:rPr>
              <a:t>TRADITIONAL TRIAL</a:t>
            </a:r>
            <a:endParaRPr lang="en-US" sz="1200" dirty="0"/>
          </a:p>
        </p:txBody>
      </p:sp>
      <p:sp>
        <p:nvSpPr>
          <p:cNvPr id="5" name="Text 3"/>
          <p:cNvSpPr/>
          <p:nvPr/>
        </p:nvSpPr>
        <p:spPr>
          <a:xfrm>
            <a:off x="6515100" y="1823690"/>
            <a:ext cx="501002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490"/>
                </a:solidFill>
                <a:latin typeface="Inter" pitchFamily="34" charset="0"/>
                <a:ea typeface="Inter" pitchFamily="34" charset="-122"/>
                <a:cs typeface="Inter" pitchFamily="34" charset="-120"/>
              </a:rPr>
              <a:t>PARITTY</a:t>
            </a:r>
            <a:endParaRPr lang="en-US" sz="1200" dirty="0"/>
          </a:p>
        </p:txBody>
      </p:sp>
      <p:sp>
        <p:nvSpPr>
          <p:cNvPr id="6" name="Text 4"/>
          <p:cNvSpPr/>
          <p:nvPr/>
        </p:nvSpPr>
        <p:spPr>
          <a:xfrm>
            <a:off x="812800" y="2246561"/>
            <a:ext cx="4972050" cy="571500"/>
          </a:xfrm>
          <a:prstGeom prst="roundRect">
            <a:avLst>
              <a:gd name="adj" fmla="val 20000"/>
            </a:avLst>
          </a:prstGeom>
          <a:solidFill>
            <a:srgbClr val="E8EEF1"/>
          </a:solidFill>
          <a:ln/>
        </p:spPr>
        <p:txBody>
          <a:bodyPr wrap="square" lIns="195123" tIns="118923" rIns="59677" bIns="93523" rtlCol="0" anchor="t">
            <a:normAutofit/>
          </a:bodyPr>
          <a:lstStyle/>
          <a:p>
            <a:pPr marL="0" indent="0" algn="l">
              <a:lnSpc>
                <a:spcPts val="2100"/>
              </a:lnSpc>
              <a:buNone/>
            </a:pPr>
            <a:r>
              <a:rPr lang="en-US" sz="1500" dirty="0">
                <a:solidFill>
                  <a:srgbClr val="3B4F59"/>
                </a:solidFill>
                <a:latin typeface="Inter" pitchFamily="34" charset="0"/>
                <a:ea typeface="Inter" pitchFamily="34" charset="-122"/>
                <a:cs typeface="Inter" pitchFamily="34" charset="-120"/>
              </a:rPr>
              <a:t>Data sits unchecked for months</a:t>
            </a:r>
            <a:endParaRPr lang="en-US" sz="1500" dirty="0"/>
          </a:p>
        </p:txBody>
      </p:sp>
      <p:sp>
        <p:nvSpPr>
          <p:cNvPr id="7" name="Text 5"/>
          <p:cNvSpPr/>
          <p:nvPr/>
        </p:nvSpPr>
        <p:spPr>
          <a:xfrm>
            <a:off x="5861050" y="2363391"/>
            <a:ext cx="457200" cy="363190"/>
          </a:xfrm>
          <a:prstGeom prst="rect">
            <a:avLst/>
          </a:prstGeom>
          <a:noFill/>
          <a:ln/>
        </p:spPr>
        <p:txBody>
          <a:bodyPr wrap="square" lIns="0" tIns="0" rIns="0" bIns="0" rtlCol="0" anchor="t">
            <a:normAutofit/>
          </a:bodyPr>
          <a:lstStyle/>
          <a:p>
            <a:pPr marL="0" indent="0" algn="ctr">
              <a:lnSpc>
                <a:spcPts val="2660"/>
              </a:lnSpc>
              <a:buNone/>
            </a:pPr>
            <a:r>
              <a:rPr lang="en-US" sz="1900" dirty="0">
                <a:solidFill>
                  <a:srgbClr val="0891B2"/>
                </a:solidFill>
                <a:latin typeface="Inter" pitchFamily="34" charset="0"/>
                <a:ea typeface="Inter" pitchFamily="34" charset="-122"/>
                <a:cs typeface="Inter" pitchFamily="34" charset="-120"/>
              </a:rPr>
              <a:t>→</a:t>
            </a:r>
            <a:endParaRPr lang="en-US" sz="1900" dirty="0"/>
          </a:p>
        </p:txBody>
      </p:sp>
      <p:sp>
        <p:nvSpPr>
          <p:cNvPr id="8" name="Text 6"/>
          <p:cNvSpPr/>
          <p:nvPr/>
        </p:nvSpPr>
        <p:spPr>
          <a:xfrm>
            <a:off x="6397625" y="2243386"/>
            <a:ext cx="4978400" cy="577850"/>
          </a:xfrm>
          <a:prstGeom prst="roundRect">
            <a:avLst>
              <a:gd name="adj" fmla="val 19231"/>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wrap="square" lIns="199228" tIns="123028" rIns="63782" bIns="97628" rtlCol="0" anchor="t">
            <a:normAutofit/>
          </a:bodyPr>
          <a:lstStyle/>
          <a:p>
            <a:pPr marL="0" indent="0" algn="l">
              <a:lnSpc>
                <a:spcPts val="2100"/>
              </a:lnSpc>
              <a:buNone/>
            </a:pPr>
            <a:r>
              <a:rPr lang="en-US" sz="1500" b="1" dirty="0">
                <a:solidFill>
                  <a:srgbClr val="13343C"/>
                </a:solidFill>
                <a:latin typeface="Inter" pitchFamily="34" charset="0"/>
                <a:ea typeface="Inter" pitchFamily="34" charset="-122"/>
                <a:cs typeface="Inter" pitchFamily="34" charset="-120"/>
              </a:rPr>
              <a:t>New visits are audited within 24 hours of entry</a:t>
            </a:r>
            <a:endParaRPr lang="en-US" sz="1500" dirty="0"/>
          </a:p>
        </p:txBody>
      </p:sp>
      <p:sp>
        <p:nvSpPr>
          <p:cNvPr id="9" name="Text 7"/>
          <p:cNvSpPr/>
          <p:nvPr/>
        </p:nvSpPr>
        <p:spPr>
          <a:xfrm>
            <a:off x="812800" y="3065711"/>
            <a:ext cx="4972050" cy="571500"/>
          </a:xfrm>
          <a:prstGeom prst="roundRect">
            <a:avLst>
              <a:gd name="adj" fmla="val 20000"/>
            </a:avLst>
          </a:prstGeom>
          <a:solidFill>
            <a:srgbClr val="E8EEF1"/>
          </a:solidFill>
          <a:ln/>
        </p:spPr>
        <p:txBody>
          <a:bodyPr wrap="square" lIns="195123" tIns="118923" rIns="59677" bIns="93523" rtlCol="0" anchor="t">
            <a:normAutofit/>
          </a:bodyPr>
          <a:lstStyle/>
          <a:p>
            <a:pPr marL="0" indent="0" algn="l">
              <a:lnSpc>
                <a:spcPts val="2100"/>
              </a:lnSpc>
              <a:buNone/>
            </a:pPr>
            <a:r>
              <a:rPr lang="en-US" sz="1500" dirty="0">
                <a:solidFill>
                  <a:srgbClr val="3B4F59"/>
                </a:solidFill>
                <a:latin typeface="Inter" pitchFamily="34" charset="0"/>
                <a:ea typeface="Inter" pitchFamily="34" charset="-122"/>
                <a:cs typeface="Inter" pitchFamily="34" charset="-120"/>
              </a:rPr>
              <a:t>Queries sent to sites months after the visit</a:t>
            </a:r>
            <a:endParaRPr lang="en-US" sz="1500" dirty="0"/>
          </a:p>
        </p:txBody>
      </p:sp>
      <p:sp>
        <p:nvSpPr>
          <p:cNvPr id="10" name="Text 8"/>
          <p:cNvSpPr/>
          <p:nvPr/>
        </p:nvSpPr>
        <p:spPr>
          <a:xfrm>
            <a:off x="5861050" y="3182541"/>
            <a:ext cx="457200" cy="363190"/>
          </a:xfrm>
          <a:prstGeom prst="rect">
            <a:avLst/>
          </a:prstGeom>
          <a:noFill/>
          <a:ln/>
        </p:spPr>
        <p:txBody>
          <a:bodyPr wrap="square" lIns="0" tIns="0" rIns="0" bIns="0" rtlCol="0" anchor="t">
            <a:normAutofit/>
          </a:bodyPr>
          <a:lstStyle/>
          <a:p>
            <a:pPr marL="0" indent="0" algn="ctr">
              <a:lnSpc>
                <a:spcPts val="2660"/>
              </a:lnSpc>
              <a:buNone/>
            </a:pPr>
            <a:r>
              <a:rPr lang="en-US" sz="1900" dirty="0">
                <a:solidFill>
                  <a:srgbClr val="0891B2"/>
                </a:solidFill>
                <a:latin typeface="Inter" pitchFamily="34" charset="0"/>
                <a:ea typeface="Inter" pitchFamily="34" charset="-122"/>
                <a:cs typeface="Inter" pitchFamily="34" charset="-120"/>
              </a:rPr>
              <a:t>→</a:t>
            </a:r>
            <a:endParaRPr lang="en-US" sz="1900" dirty="0"/>
          </a:p>
        </p:txBody>
      </p:sp>
      <p:sp>
        <p:nvSpPr>
          <p:cNvPr id="11" name="Text 9"/>
          <p:cNvSpPr/>
          <p:nvPr/>
        </p:nvSpPr>
        <p:spPr>
          <a:xfrm>
            <a:off x="6397625" y="2929186"/>
            <a:ext cx="4978400" cy="844550"/>
          </a:xfrm>
          <a:prstGeom prst="roundRect">
            <a:avLst>
              <a:gd name="adj" fmla="val 13158"/>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wrap="square" lIns="199228" tIns="123028" rIns="63782" bIns="97628" rtlCol="0" anchor="t">
            <a:normAutofit/>
          </a:bodyPr>
          <a:lstStyle/>
          <a:p>
            <a:pPr marL="0" indent="0" algn="l">
              <a:lnSpc>
                <a:spcPts val="2100"/>
              </a:lnSpc>
              <a:buNone/>
            </a:pPr>
            <a:r>
              <a:rPr lang="en-US" sz="1500" b="1" dirty="0">
                <a:solidFill>
                  <a:srgbClr val="13343C"/>
                </a:solidFill>
                <a:latin typeface="Inter" pitchFamily="34" charset="0"/>
                <a:ea typeface="Inter" pitchFamily="34" charset="-122"/>
                <a:cs typeface="Inter" pitchFamily="34" charset="-120"/>
              </a:rPr>
              <a:t>Queries drafted immediately, while memories are fresh</a:t>
            </a:r>
            <a:endParaRPr lang="en-US" sz="1500" dirty="0"/>
          </a:p>
        </p:txBody>
      </p:sp>
      <p:sp>
        <p:nvSpPr>
          <p:cNvPr id="12" name="Text 10"/>
          <p:cNvSpPr/>
          <p:nvPr/>
        </p:nvSpPr>
        <p:spPr>
          <a:xfrm>
            <a:off x="812800" y="3884861"/>
            <a:ext cx="4972050" cy="571500"/>
          </a:xfrm>
          <a:prstGeom prst="roundRect">
            <a:avLst>
              <a:gd name="adj" fmla="val 20000"/>
            </a:avLst>
          </a:prstGeom>
          <a:solidFill>
            <a:srgbClr val="E8EEF1"/>
          </a:solidFill>
          <a:ln/>
        </p:spPr>
        <p:txBody>
          <a:bodyPr wrap="square" lIns="195123" tIns="118923" rIns="59677" bIns="93523" rtlCol="0" anchor="t">
            <a:normAutofit/>
          </a:bodyPr>
          <a:lstStyle/>
          <a:p>
            <a:pPr marL="0" indent="0" algn="l">
              <a:lnSpc>
                <a:spcPts val="2100"/>
              </a:lnSpc>
              <a:buNone/>
            </a:pPr>
            <a:r>
              <a:rPr lang="en-US" sz="1500" dirty="0">
                <a:solidFill>
                  <a:srgbClr val="3B4F59"/>
                </a:solidFill>
                <a:latin typeface="Inter" pitchFamily="34" charset="0"/>
                <a:ea typeface="Inter" pitchFamily="34" charset="-122"/>
                <a:cs typeface="Inter" pitchFamily="34" charset="-120"/>
              </a:rPr>
              <a:t>Manual reconciliation between databases</a:t>
            </a:r>
            <a:endParaRPr lang="en-US" sz="1500" dirty="0"/>
          </a:p>
        </p:txBody>
      </p:sp>
      <p:sp>
        <p:nvSpPr>
          <p:cNvPr id="13" name="Text 11"/>
          <p:cNvSpPr/>
          <p:nvPr/>
        </p:nvSpPr>
        <p:spPr>
          <a:xfrm>
            <a:off x="5861050" y="4001691"/>
            <a:ext cx="457200" cy="363190"/>
          </a:xfrm>
          <a:prstGeom prst="rect">
            <a:avLst/>
          </a:prstGeom>
          <a:noFill/>
          <a:ln/>
        </p:spPr>
        <p:txBody>
          <a:bodyPr wrap="square" lIns="0" tIns="0" rIns="0" bIns="0" rtlCol="0" anchor="t">
            <a:normAutofit/>
          </a:bodyPr>
          <a:lstStyle/>
          <a:p>
            <a:pPr marL="0" indent="0" algn="ctr">
              <a:lnSpc>
                <a:spcPts val="2660"/>
              </a:lnSpc>
              <a:buNone/>
            </a:pPr>
            <a:r>
              <a:rPr lang="en-US" sz="1900" dirty="0">
                <a:solidFill>
                  <a:srgbClr val="0891B2"/>
                </a:solidFill>
                <a:latin typeface="Inter" pitchFamily="34" charset="0"/>
                <a:ea typeface="Inter" pitchFamily="34" charset="-122"/>
                <a:cs typeface="Inter" pitchFamily="34" charset="-120"/>
              </a:rPr>
              <a:t>→</a:t>
            </a:r>
            <a:endParaRPr lang="en-US" sz="1900" dirty="0"/>
          </a:p>
        </p:txBody>
      </p:sp>
      <p:sp>
        <p:nvSpPr>
          <p:cNvPr id="14" name="Text 12"/>
          <p:cNvSpPr/>
          <p:nvPr/>
        </p:nvSpPr>
        <p:spPr>
          <a:xfrm>
            <a:off x="6397625" y="3881686"/>
            <a:ext cx="4978400" cy="577850"/>
          </a:xfrm>
          <a:prstGeom prst="roundRect">
            <a:avLst>
              <a:gd name="adj" fmla="val 19231"/>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wrap="square" lIns="199228" tIns="123028" rIns="63782" bIns="97628" rtlCol="0" anchor="t">
            <a:normAutofit/>
          </a:bodyPr>
          <a:lstStyle/>
          <a:p>
            <a:pPr marL="0" indent="0" algn="l">
              <a:lnSpc>
                <a:spcPts val="2100"/>
              </a:lnSpc>
              <a:buNone/>
            </a:pPr>
            <a:r>
              <a:rPr lang="en-US" sz="1500" b="1" dirty="0">
                <a:solidFill>
                  <a:srgbClr val="13343C"/>
                </a:solidFill>
                <a:latin typeface="Inter" pitchFamily="34" charset="0"/>
                <a:ea typeface="Inter" pitchFamily="34" charset="-122"/>
                <a:cs typeface="Inter" pitchFamily="34" charset="-120"/>
              </a:rPr>
              <a:t>Fuzzy reconciliation runs daily</a:t>
            </a:r>
            <a:endParaRPr lang="en-US" sz="1500" dirty="0"/>
          </a:p>
        </p:txBody>
      </p:sp>
      <p:sp>
        <p:nvSpPr>
          <p:cNvPr id="15" name="Text 13"/>
          <p:cNvSpPr/>
          <p:nvPr/>
        </p:nvSpPr>
        <p:spPr>
          <a:xfrm>
            <a:off x="812800" y="4570661"/>
            <a:ext cx="4972050" cy="571500"/>
          </a:xfrm>
          <a:prstGeom prst="roundRect">
            <a:avLst>
              <a:gd name="adj" fmla="val 20000"/>
            </a:avLst>
          </a:prstGeom>
          <a:solidFill>
            <a:srgbClr val="E8EEF1"/>
          </a:solidFill>
          <a:ln/>
        </p:spPr>
        <p:txBody>
          <a:bodyPr wrap="square" lIns="195123" tIns="118923" rIns="59677" bIns="93523" rtlCol="0" anchor="t">
            <a:normAutofit/>
          </a:bodyPr>
          <a:lstStyle/>
          <a:p>
            <a:pPr marL="0" indent="0" algn="l">
              <a:lnSpc>
                <a:spcPts val="2100"/>
              </a:lnSpc>
              <a:buNone/>
            </a:pPr>
            <a:r>
              <a:rPr lang="en-US" sz="1500" dirty="0">
                <a:solidFill>
                  <a:srgbClr val="3B4F59"/>
                </a:solidFill>
                <a:latin typeface="Inter" pitchFamily="34" charset="0"/>
                <a:ea typeface="Inter" pitchFamily="34" charset="-122"/>
                <a:cs typeface="Inter" pitchFamily="34" charset="-120"/>
              </a:rPr>
              <a:t>Guessing the final lock date</a:t>
            </a:r>
            <a:endParaRPr lang="en-US" sz="1500" dirty="0"/>
          </a:p>
        </p:txBody>
      </p:sp>
      <p:sp>
        <p:nvSpPr>
          <p:cNvPr id="16" name="Text 14"/>
          <p:cNvSpPr/>
          <p:nvPr/>
        </p:nvSpPr>
        <p:spPr>
          <a:xfrm>
            <a:off x="5861050" y="4687491"/>
            <a:ext cx="457200" cy="363190"/>
          </a:xfrm>
          <a:prstGeom prst="rect">
            <a:avLst/>
          </a:prstGeom>
          <a:noFill/>
          <a:ln/>
        </p:spPr>
        <p:txBody>
          <a:bodyPr wrap="square" lIns="0" tIns="0" rIns="0" bIns="0" rtlCol="0" anchor="t">
            <a:normAutofit/>
          </a:bodyPr>
          <a:lstStyle/>
          <a:p>
            <a:pPr marL="0" indent="0" algn="ctr">
              <a:lnSpc>
                <a:spcPts val="2660"/>
              </a:lnSpc>
              <a:buNone/>
            </a:pPr>
            <a:r>
              <a:rPr lang="en-US" sz="1900" dirty="0">
                <a:solidFill>
                  <a:srgbClr val="0891B2"/>
                </a:solidFill>
                <a:latin typeface="Inter" pitchFamily="34" charset="0"/>
                <a:ea typeface="Inter" pitchFamily="34" charset="-122"/>
                <a:cs typeface="Inter" pitchFamily="34" charset="-120"/>
              </a:rPr>
              <a:t>→</a:t>
            </a:r>
            <a:endParaRPr lang="en-US" sz="1900" dirty="0"/>
          </a:p>
        </p:txBody>
      </p:sp>
      <p:sp>
        <p:nvSpPr>
          <p:cNvPr id="17" name="Text 15"/>
          <p:cNvSpPr/>
          <p:nvPr/>
        </p:nvSpPr>
        <p:spPr>
          <a:xfrm>
            <a:off x="6397625" y="4567486"/>
            <a:ext cx="4978400" cy="577850"/>
          </a:xfrm>
          <a:prstGeom prst="roundRect">
            <a:avLst>
              <a:gd name="adj" fmla="val 19231"/>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wrap="square" lIns="199228" tIns="123028" rIns="63782" bIns="97628" rtlCol="0" anchor="t">
            <a:normAutofit/>
          </a:bodyPr>
          <a:lstStyle/>
          <a:p>
            <a:pPr marL="0" indent="0" algn="l">
              <a:lnSpc>
                <a:spcPts val="2100"/>
              </a:lnSpc>
              <a:buNone/>
            </a:pPr>
            <a:r>
              <a:rPr lang="en-US" sz="1500" b="1" dirty="0">
                <a:solidFill>
                  <a:srgbClr val="13343C"/>
                </a:solidFill>
                <a:latin typeface="Inter" pitchFamily="34" charset="0"/>
                <a:ea typeface="Inter" pitchFamily="34" charset="-122"/>
                <a:cs typeface="Inter" pitchFamily="34" charset="-120"/>
              </a:rPr>
              <a:t>A Monte Carlo simulation projects the lock date</a:t>
            </a:r>
            <a:endParaRPr lang="en-US" sz="15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Paritty · Continuous clean-to-lock copilot for clinical trials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TODAY</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One work queue per role.</a:t>
            </a:r>
            <a:endParaRPr lang="en-US" sz="3400" dirty="0"/>
          </a:p>
        </p:txBody>
      </p:sp>
      <p:sp>
        <p:nvSpPr>
          <p:cNvPr id="4" name="Shape 2"/>
          <p:cNvSpPr/>
          <p:nvPr/>
        </p:nvSpPr>
        <p:spPr>
          <a:xfrm>
            <a:off x="812800" y="1849090"/>
            <a:ext cx="5588000" cy="3143250"/>
          </a:xfrm>
          <a:prstGeom prst="roundRect">
            <a:avLst>
              <a:gd name="adj" fmla="val 3232"/>
            </a:avLst>
          </a:prstGeom>
          <a:solidFill>
            <a:srgbClr val="F3FAFB"/>
          </a:solidFill>
          <a:ln/>
        </p:spPr>
        <p:txBody>
          <a:bodyPr/>
          <a:lstStyle/>
          <a:p>
            <a:endParaRPr lang="en-US"/>
          </a:p>
        </p:txBody>
      </p:sp>
      <p:pic>
        <p:nvPicPr>
          <p:cNvPr id="5" name="Image 0" descr="The Today screen: three stat cards and a list of decisions waiting, with a role selector above"/>
          <p:cNvPicPr>
            <a:picLocks noChangeAspect="1"/>
          </p:cNvPicPr>
          <p:nvPr/>
        </p:nvPicPr>
        <p:blipFill>
          <a:blip r:embed="rId3"/>
          <a:srcRect l="-89" r="-89"/>
          <a:stretch/>
        </p:blipFill>
        <p:spPr>
          <a:xfrm>
            <a:off x="819150" y="1855440"/>
            <a:ext cx="5575300" cy="3130550"/>
          </a:xfrm>
          <a:prstGeom prst="roundRect">
            <a:avLst>
              <a:gd name="adj" fmla="val 3043"/>
            </a:avLst>
          </a:prstGeom>
        </p:spPr>
      </p:pic>
      <p:sp>
        <p:nvSpPr>
          <p:cNvPr id="6" name="Shape 3"/>
          <p:cNvSpPr/>
          <p:nvPr/>
        </p:nvSpPr>
        <p:spPr>
          <a:xfrm>
            <a:off x="815975" y="1852265"/>
            <a:ext cx="5581650" cy="3136900"/>
          </a:xfrm>
          <a:prstGeom prst="roundRect">
            <a:avLst>
              <a:gd name="adj" fmla="val 3138"/>
            </a:avLst>
          </a:prstGeom>
          <a:noFill/>
          <a:ln w="6350">
            <a:solidFill>
              <a:srgbClr val="D5E9EC"/>
            </a:solidFill>
            <a:prstDash val="solid"/>
          </a:ln>
        </p:spPr>
        <p:txBody>
          <a:bodyPr/>
          <a:lstStyle/>
          <a:p>
            <a:endParaRPr lang="en-US"/>
          </a:p>
        </p:txBody>
      </p:sp>
      <p:sp>
        <p:nvSpPr>
          <p:cNvPr id="7" name="Text 4"/>
          <p:cNvSpPr/>
          <p:nvPr/>
        </p:nvSpPr>
        <p:spPr>
          <a:xfrm>
            <a:off x="812800" y="5093940"/>
            <a:ext cx="5755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Today screen, from the walkthrough video. Sample data.</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69100" y="1861790"/>
          <a:ext cx="4610100" cy="2813846"/>
        </p:xfrm>
        <a:graphic>
          <a:graphicData uri="http://schemas.openxmlformats.org/drawingml/2006/table">
            <a:tbl>
              <a:tblPr/>
              <a:tblGrid>
                <a:gridCol w="1936242">
                  <a:extLst>
                    <a:ext uri="{9D8B030D-6E8A-4147-A177-3AD203B41FA5}">
                      <a16:colId xmlns:a16="http://schemas.microsoft.com/office/drawing/2014/main" val="20000"/>
                    </a:ext>
                  </a:extLst>
                </a:gridCol>
                <a:gridCol w="2673858">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13343C"/>
                          </a:solidFill>
                          <a:latin typeface="Inter" pitchFamily="34" charset="0"/>
                          <a:ea typeface="Inter" pitchFamily="34" charset="-122"/>
                          <a:cs typeface="Inter" pitchFamily="34" charset="-120"/>
                        </a:rPr>
                        <a:t>Role</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B4B9B9"/>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B4B9B9"/>
                      </a:solidFill>
                      <a:prstDash val="solid"/>
                      <a:round/>
                      <a:headEnd type="none" w="med" len="med"/>
                      <a:tailEnd type="none" w="med" len="med"/>
                    </a:lnB>
                    <a:solidFill>
                      <a:srgbClr val="E1E8E8"/>
                    </a:solidFill>
                  </a:tcPr>
                </a:tc>
                <a:tc>
                  <a:txBody>
                    <a:bodyPr/>
                    <a:lstStyle/>
                    <a:p>
                      <a:pPr marL="0" indent="0">
                        <a:lnSpc>
                          <a:spcPts val="1960"/>
                        </a:lnSpc>
                        <a:buNone/>
                      </a:pPr>
                      <a:r>
                        <a:rPr lang="en-US" sz="1400" b="1" dirty="0">
                          <a:solidFill>
                            <a:srgbClr val="13343C"/>
                          </a:solidFill>
                          <a:latin typeface="Inter" pitchFamily="34" charset="0"/>
                          <a:ea typeface="Inter" pitchFamily="34" charset="-122"/>
                          <a:cs typeface="Inter" pitchFamily="34" charset="-120"/>
                        </a:rPr>
                        <a:t>Starts from</a:t>
                      </a:r>
                      <a:endParaRPr lang="en-US" sz="1400" dirty="0">
                        <a:latin typeface="Inter" charset="0"/>
                        <a:ea typeface="Inter" charset="0"/>
                        <a:cs typeface="Inter" charset="0"/>
                      </a:endParaRPr>
                    </a:p>
                  </a:txBody>
                  <a:tcPr marL="62230" marR="62230" marT="62230" marB="62230">
                    <a:lnL w="12700" cap="flat" cmpd="sng" algn="ctr">
                      <a:solidFill>
                        <a:srgbClr val="B4B9B9"/>
                      </a:solidFill>
                      <a:prstDash val="solid"/>
                      <a:round/>
                      <a:headEnd type="none" w="med" len="med"/>
                      <a:tailEnd type="none" w="med" len="med"/>
                    </a:lnL>
                    <a:lnR w="12700" cap="flat" cmpd="sng" algn="ctr">
                      <a:solidFill>
                        <a:srgbClr val="B4B9B9"/>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B4B9B9"/>
                      </a:solidFill>
                      <a:prstDash val="solid"/>
                      <a:round/>
                      <a:headEnd type="none" w="med" len="med"/>
                      <a:tailEnd type="none" w="med" len="med"/>
                    </a:lnB>
                    <a:solidFill>
                      <a:srgbClr val="E1E8E8"/>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Data manager</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B4B9B9"/>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Queries, checks, matching</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B4B9B9"/>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extLst>
                  <a:ext uri="{0D108BD9-81ED-4DB2-BD59-A6C34878D82A}">
                    <a16:rowId xmlns:a16="http://schemas.microsoft.com/office/drawing/2014/main" val="10001"/>
                  </a:ext>
                </a:extLst>
              </a:tr>
              <a:tr h="634901">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Medical monitor</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Medical review, liver safety, trends</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Central monitor</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Site risk, visit plan</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Study lead</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Suggested actions</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extLst>
                  <a:ext uri="{0D108BD9-81ED-4DB2-BD59-A6C34878D82A}">
                    <a16:rowId xmlns:a16="http://schemas.microsoft.com/office/drawing/2014/main" val="10004"/>
                  </a:ext>
                </a:extLst>
              </a:tr>
              <a:tr h="634901">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Unblinded statistician</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tc>
                  <a:txBody>
                    <a:bodyPr/>
                    <a:lstStyle/>
                    <a:p>
                      <a:pPr marL="0" indent="0">
                        <a:lnSpc>
                          <a:spcPts val="1960"/>
                        </a:lnSpc>
                        <a:buNone/>
                      </a:pPr>
                      <a:r>
                        <a:rPr lang="en-US" sz="1400" dirty="0">
                          <a:solidFill>
                            <a:srgbClr val="13343C"/>
                          </a:solidFill>
                          <a:latin typeface="Inter" pitchFamily="34" charset="0"/>
                          <a:ea typeface="Inter" pitchFamily="34" charset="-122"/>
                          <a:cs typeface="Inter" pitchFamily="34" charset="-120"/>
                        </a:rPr>
                        <a:t>Liver safety</a:t>
                      </a:r>
                      <a:endParaRPr lang="en-US" sz="1400" dirty="0">
                        <a:latin typeface="Inter" charset="0"/>
                        <a:ea typeface="Inter" charset="0"/>
                        <a:cs typeface="Inter" charset="0"/>
                      </a:endParaRPr>
                    </a:p>
                  </a:txBody>
                  <a:tcPr marL="62230" marR="62230" marT="62230" marB="62230">
                    <a:lnL w="12700" cap="flat" cmpd="sng" algn="ctr">
                      <a:solidFill>
                        <a:srgbClr val="C2C7C8"/>
                      </a:solidFill>
                      <a:prstDash val="solid"/>
                      <a:round/>
                      <a:headEnd type="none" w="med" len="med"/>
                      <a:tailEnd type="none" w="med" len="med"/>
                    </a:lnL>
                    <a:lnR w="12700" cap="flat" cmpd="sng" algn="ctr">
                      <a:solidFill>
                        <a:srgbClr val="C2C7C8"/>
                      </a:solidFill>
                      <a:prstDash val="solid"/>
                      <a:round/>
                      <a:headEnd type="none" w="med" len="med"/>
                      <a:tailEnd type="none" w="med" len="med"/>
                    </a:lnR>
                    <a:lnT w="12700" cap="flat" cmpd="sng" algn="ctr">
                      <a:solidFill>
                        <a:srgbClr val="C2C7C8"/>
                      </a:solidFill>
                      <a:prstDash val="solid"/>
                      <a:round/>
                      <a:headEnd type="none" w="med" len="med"/>
                      <a:tailEnd type="none" w="med" len="med"/>
                    </a:lnT>
                    <a:lnB w="12700" cap="flat" cmpd="sng" algn="ctr">
                      <a:solidFill>
                        <a:srgbClr val="C2C7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Paritty · Decisions waiting, most likely lock date, and what is ready to lock, in one place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DATA CHECKS AND QUERIES</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Every row checked the day it arrives.</a:t>
            </a:r>
            <a:endParaRPr lang="en-US" sz="3400" dirty="0"/>
          </a:p>
        </p:txBody>
      </p:sp>
      <p:sp>
        <p:nvSpPr>
          <p:cNvPr id="4" name="Shape 2"/>
          <p:cNvSpPr/>
          <p:nvPr/>
        </p:nvSpPr>
        <p:spPr>
          <a:xfrm>
            <a:off x="815975" y="1852265"/>
            <a:ext cx="3380284" cy="2393851"/>
          </a:xfrm>
          <a:prstGeom prst="roundRect">
            <a:avLst>
              <a:gd name="adj" fmla="val 5173"/>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5" name="Text 3"/>
          <p:cNvSpPr/>
          <p:nvPr/>
        </p:nvSpPr>
        <p:spPr>
          <a:xfrm>
            <a:off x="1047750" y="2058640"/>
            <a:ext cx="3004236" cy="787400"/>
          </a:xfrm>
          <a:prstGeom prst="rect">
            <a:avLst/>
          </a:prstGeom>
          <a:noFill/>
          <a:ln/>
        </p:spPr>
        <p:txBody>
          <a:bodyPr wrap="square" lIns="0" tIns="0" rIns="0" bIns="0" rtlCol="0" anchor="t">
            <a:normAutofit/>
          </a:bodyPr>
          <a:lstStyle/>
          <a:p>
            <a:pPr marL="0" indent="0" algn="l">
              <a:lnSpc>
                <a:spcPts val="6000"/>
              </a:lnSpc>
              <a:buNone/>
            </a:pPr>
            <a:r>
              <a:rPr lang="en-US" sz="6000" b="1" kern="0" spc="-250" dirty="0">
                <a:solidFill>
                  <a:srgbClr val="0E7490"/>
                </a:solidFill>
                <a:latin typeface="Inter" pitchFamily="34" charset="0"/>
                <a:ea typeface="Inter" pitchFamily="34" charset="-122"/>
                <a:cs typeface="Inter" pitchFamily="34" charset="-120"/>
              </a:rPr>
              <a:t>25+</a:t>
            </a:r>
            <a:endParaRPr lang="en-US" sz="6000" dirty="0"/>
          </a:p>
        </p:txBody>
      </p:sp>
      <p:sp>
        <p:nvSpPr>
          <p:cNvPr id="6" name="Text 4"/>
          <p:cNvSpPr/>
          <p:nvPr/>
        </p:nvSpPr>
        <p:spPr>
          <a:xfrm>
            <a:off x="1047750" y="2896840"/>
            <a:ext cx="3004236"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343C"/>
                </a:solidFill>
                <a:latin typeface="Inter" pitchFamily="34" charset="0"/>
                <a:ea typeface="Inter" pitchFamily="34" charset="-122"/>
                <a:cs typeface="Inter" pitchFamily="34" charset="-120"/>
              </a:rPr>
              <a:t>built-in checks</a:t>
            </a:r>
            <a:endParaRPr lang="en-US" sz="1700" dirty="0"/>
          </a:p>
        </p:txBody>
      </p:sp>
      <p:sp>
        <p:nvSpPr>
          <p:cNvPr id="7" name="Text 5"/>
          <p:cNvSpPr/>
          <p:nvPr/>
        </p:nvSpPr>
        <p:spPr>
          <a:xfrm>
            <a:off x="1047750" y="3275261"/>
            <a:ext cx="30042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626D"/>
                </a:solidFill>
                <a:latin typeface="Inter" pitchFamily="34" charset="0"/>
                <a:ea typeface="Inter" pitchFamily="34" charset="-122"/>
                <a:cs typeface="Inter" pitchFamily="34" charset="-120"/>
              </a:rPr>
              <a:t>Dates, ranges, doses and duplicates, run on every new visit.</a:t>
            </a:r>
            <a:endParaRPr lang="en-US" sz="1300" dirty="0"/>
          </a:p>
        </p:txBody>
      </p:sp>
      <p:sp>
        <p:nvSpPr>
          <p:cNvPr id="8" name="Shape 6"/>
          <p:cNvSpPr/>
          <p:nvPr/>
        </p:nvSpPr>
        <p:spPr>
          <a:xfrm>
            <a:off x="4405809" y="1852265"/>
            <a:ext cx="3380333" cy="2393851"/>
          </a:xfrm>
          <a:prstGeom prst="roundRect">
            <a:avLst>
              <a:gd name="adj" fmla="val 5173"/>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9" name="Text 7"/>
          <p:cNvSpPr/>
          <p:nvPr/>
        </p:nvSpPr>
        <p:spPr>
          <a:xfrm>
            <a:off x="4637584" y="2058640"/>
            <a:ext cx="3004287" cy="787400"/>
          </a:xfrm>
          <a:prstGeom prst="rect">
            <a:avLst/>
          </a:prstGeom>
          <a:noFill/>
          <a:ln/>
        </p:spPr>
        <p:txBody>
          <a:bodyPr wrap="square" lIns="0" tIns="0" rIns="0" bIns="0" rtlCol="0" anchor="t">
            <a:normAutofit/>
          </a:bodyPr>
          <a:lstStyle/>
          <a:p>
            <a:pPr marL="0" indent="0" algn="l">
              <a:lnSpc>
                <a:spcPts val="6000"/>
              </a:lnSpc>
              <a:buNone/>
            </a:pPr>
            <a:r>
              <a:rPr lang="en-US" sz="6000" b="1" kern="0" spc="-250" dirty="0">
                <a:solidFill>
                  <a:srgbClr val="0E7490"/>
                </a:solidFill>
                <a:latin typeface="Inter" pitchFamily="34" charset="0"/>
                <a:ea typeface="Inter" pitchFamily="34" charset="-122"/>
                <a:cs typeface="Inter" pitchFamily="34" charset="-120"/>
              </a:rPr>
              <a:t>0.95</a:t>
            </a:r>
            <a:endParaRPr lang="en-US" sz="6000" dirty="0"/>
          </a:p>
        </p:txBody>
      </p:sp>
      <p:sp>
        <p:nvSpPr>
          <p:cNvPr id="10" name="Text 8"/>
          <p:cNvSpPr/>
          <p:nvPr/>
        </p:nvSpPr>
        <p:spPr>
          <a:xfrm>
            <a:off x="4637584" y="2896840"/>
            <a:ext cx="3004287"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343C"/>
                </a:solidFill>
                <a:latin typeface="Inter" pitchFamily="34" charset="0"/>
                <a:ea typeface="Inter" pitchFamily="34" charset="-122"/>
                <a:cs typeface="Inter" pitchFamily="34" charset="-120"/>
              </a:rPr>
              <a:t>priority for an unreported death</a:t>
            </a:r>
            <a:endParaRPr lang="en-US" sz="1700" dirty="0"/>
          </a:p>
        </p:txBody>
      </p:sp>
      <p:sp>
        <p:nvSpPr>
          <p:cNvPr id="11" name="Text 9"/>
          <p:cNvSpPr/>
          <p:nvPr/>
        </p:nvSpPr>
        <p:spPr>
          <a:xfrm>
            <a:off x="4637584" y="3577481"/>
            <a:ext cx="300428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626D"/>
                </a:solidFill>
                <a:latin typeface="Inter" pitchFamily="34" charset="0"/>
                <a:ea typeface="Inter" pitchFamily="34" charset="-122"/>
                <a:cs typeface="Inter" pitchFamily="34" charset="-120"/>
              </a:rPr>
              <a:t>A misspelled surname scores 0.1. Critical issues are reviewed first.</a:t>
            </a:r>
            <a:endParaRPr lang="en-US" sz="1300" dirty="0"/>
          </a:p>
        </p:txBody>
      </p:sp>
      <p:sp>
        <p:nvSpPr>
          <p:cNvPr id="12" name="Shape 10"/>
          <p:cNvSpPr/>
          <p:nvPr/>
        </p:nvSpPr>
        <p:spPr>
          <a:xfrm>
            <a:off x="7995692" y="1852265"/>
            <a:ext cx="3380333" cy="2393851"/>
          </a:xfrm>
          <a:prstGeom prst="roundRect">
            <a:avLst>
              <a:gd name="adj" fmla="val 5173"/>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13" name="Text 11"/>
          <p:cNvSpPr/>
          <p:nvPr/>
        </p:nvSpPr>
        <p:spPr>
          <a:xfrm>
            <a:off x="8227467" y="2058640"/>
            <a:ext cx="3004287" cy="786755"/>
          </a:xfrm>
          <a:prstGeom prst="rect">
            <a:avLst/>
          </a:prstGeom>
          <a:noFill/>
          <a:ln/>
        </p:spPr>
        <p:txBody>
          <a:bodyPr wrap="square" lIns="0" tIns="0" rIns="0" bIns="0" rtlCol="0" anchor="t">
            <a:normAutofit/>
          </a:bodyPr>
          <a:lstStyle/>
          <a:p>
            <a:pPr marL="0" indent="0" algn="l">
              <a:lnSpc>
                <a:spcPts val="5995"/>
              </a:lnSpc>
              <a:buNone/>
            </a:pPr>
            <a:r>
              <a:rPr lang="en-US" sz="5500" b="1" kern="0" spc="-250" dirty="0">
                <a:solidFill>
                  <a:srgbClr val="0E7490"/>
                </a:solidFill>
                <a:latin typeface="Inter" pitchFamily="34" charset="0"/>
                <a:ea typeface="Inter" pitchFamily="34" charset="-122"/>
                <a:cs typeface="Inter" pitchFamily="34" charset="-120"/>
              </a:rPr>
              <a:t>Gemini</a:t>
            </a:r>
            <a:endParaRPr lang="en-US" sz="5500" dirty="0"/>
          </a:p>
        </p:txBody>
      </p:sp>
      <p:sp>
        <p:nvSpPr>
          <p:cNvPr id="14" name="Text 12"/>
          <p:cNvSpPr/>
          <p:nvPr/>
        </p:nvSpPr>
        <p:spPr>
          <a:xfrm>
            <a:off x="8227467" y="2896195"/>
            <a:ext cx="3004287"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343C"/>
                </a:solidFill>
                <a:latin typeface="Inter" pitchFamily="34" charset="0"/>
                <a:ea typeface="Inter" pitchFamily="34" charset="-122"/>
                <a:cs typeface="Inter" pitchFamily="34" charset="-120"/>
              </a:rPr>
              <a:t>drafts, a person approves</a:t>
            </a:r>
            <a:endParaRPr lang="en-US" sz="1700" dirty="0"/>
          </a:p>
        </p:txBody>
      </p:sp>
      <p:sp>
        <p:nvSpPr>
          <p:cNvPr id="15" name="Text 13"/>
          <p:cNvSpPr/>
          <p:nvPr/>
        </p:nvSpPr>
        <p:spPr>
          <a:xfrm>
            <a:off x="8227467" y="3274616"/>
            <a:ext cx="3004287"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626D"/>
                </a:solidFill>
                <a:latin typeface="Inter" pitchFamily="34" charset="0"/>
                <a:ea typeface="Inter" pitchFamily="34" charset="-122"/>
                <a:cs typeface="Inter" pitchFamily="34" charset="-120"/>
              </a:rPr>
              <a:t>Queries are drafted and translated for international sites. Numbers, dates and IDs are verified.</a:t>
            </a:r>
            <a:endParaRPr lang="en-US" sz="1300" dirty="0"/>
          </a:p>
        </p:txBody>
      </p:sp>
      <p:sp>
        <p:nvSpPr>
          <p:cNvPr id="16" name="Text 14"/>
          <p:cNvSpPr/>
          <p:nvPr/>
        </p:nvSpPr>
        <p:spPr>
          <a:xfrm>
            <a:off x="815975" y="4481066"/>
            <a:ext cx="786606" cy="458440"/>
          </a:xfrm>
          <a:prstGeom prst="roundRect">
            <a:avLst>
              <a:gd name="adj" fmla="val 21470"/>
            </a:avLst>
          </a:prstGeom>
          <a:solidFill>
            <a:srgbClr val="FFFFFF"/>
          </a:solidFill>
          <a:ln w="6350">
            <a:solidFill>
              <a:srgbClr val="D5E9EC"/>
            </a:solidFill>
            <a:prstDash val="solid"/>
          </a:ln>
        </p:spPr>
        <p:txBody>
          <a:bodyPr wrap="none" lIns="0" tIns="0" rIns="0" bIns="0" rtlCol="0" anchor="ctr">
            <a:normAutofit/>
          </a:bodyPr>
          <a:lstStyle/>
          <a:p>
            <a:pPr marL="0" indent="0" algn="ctr">
              <a:lnSpc>
                <a:spcPts val="1960"/>
              </a:lnSpc>
              <a:buNone/>
            </a:pPr>
            <a:r>
              <a:rPr lang="en-US" sz="1400" b="1" dirty="0">
                <a:solidFill>
                  <a:srgbClr val="13343C"/>
                </a:solidFill>
                <a:latin typeface="Inter" pitchFamily="34" charset="0"/>
                <a:ea typeface="Inter" pitchFamily="34" charset="-122"/>
                <a:cs typeface="Inter" pitchFamily="34" charset="-120"/>
              </a:rPr>
              <a:t>Draft</a:t>
            </a:r>
            <a:endParaRPr lang="en-US" sz="1400" dirty="0"/>
          </a:p>
        </p:txBody>
      </p:sp>
      <p:sp>
        <p:nvSpPr>
          <p:cNvPr id="17" name="Text 15"/>
          <p:cNvSpPr/>
          <p:nvPr/>
        </p:nvSpPr>
        <p:spPr>
          <a:xfrm>
            <a:off x="1681956" y="4559151"/>
            <a:ext cx="2667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891B2"/>
                </a:solidFill>
                <a:latin typeface="Inter" pitchFamily="34" charset="0"/>
                <a:ea typeface="Inter" pitchFamily="34" charset="-122"/>
                <a:cs typeface="Inter" pitchFamily="34" charset="-120"/>
              </a:rPr>
              <a:t>→</a:t>
            </a:r>
            <a:endParaRPr lang="en-US" sz="1700" dirty="0"/>
          </a:p>
        </p:txBody>
      </p:sp>
      <p:sp>
        <p:nvSpPr>
          <p:cNvPr id="18" name="Text 16"/>
          <p:cNvSpPr/>
          <p:nvPr/>
        </p:nvSpPr>
        <p:spPr>
          <a:xfrm>
            <a:off x="1974056" y="4484241"/>
            <a:ext cx="2086421" cy="452090"/>
          </a:xfrm>
          <a:prstGeom prst="roundRect">
            <a:avLst>
              <a:gd name="adj" fmla="val 22473"/>
            </a:avLst>
          </a:prstGeom>
          <a:solidFill>
            <a:srgbClr val="0E7490"/>
          </a:solidFill>
          <a:ln/>
        </p:spPr>
        <p:txBody>
          <a:bodyPr wrap="none" lIns="0" tIns="0" rIns="0" bIns="0" rtlCol="0" anchor="ctr">
            <a:normAutofit/>
          </a:bodyPr>
          <a:lstStyle/>
          <a:p>
            <a:pPr marL="0" indent="0" algn="ctr">
              <a:lnSpc>
                <a:spcPts val="1960"/>
              </a:lnSpc>
              <a:buNone/>
            </a:pPr>
            <a:r>
              <a:rPr lang="en-US" sz="1400" b="1" dirty="0">
                <a:solidFill>
                  <a:srgbClr val="FFFFFF"/>
                </a:solidFill>
                <a:latin typeface="Inter" pitchFamily="34" charset="0"/>
                <a:ea typeface="Inter" pitchFamily="34" charset="-122"/>
                <a:cs typeface="Inter" pitchFamily="34" charset="-120"/>
              </a:rPr>
              <a:t>Approved by human</a:t>
            </a:r>
            <a:endParaRPr lang="en-US" sz="1400" dirty="0"/>
          </a:p>
        </p:txBody>
      </p:sp>
      <p:sp>
        <p:nvSpPr>
          <p:cNvPr id="19" name="Text 17"/>
          <p:cNvSpPr/>
          <p:nvPr/>
        </p:nvSpPr>
        <p:spPr>
          <a:xfrm>
            <a:off x="4136678" y="4559151"/>
            <a:ext cx="2667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891B2"/>
                </a:solidFill>
                <a:latin typeface="Inter" pitchFamily="34" charset="0"/>
                <a:ea typeface="Inter" pitchFamily="34" charset="-122"/>
                <a:cs typeface="Inter" pitchFamily="34" charset="-120"/>
              </a:rPr>
              <a:t>→</a:t>
            </a:r>
            <a:endParaRPr lang="en-US" sz="1700" dirty="0"/>
          </a:p>
        </p:txBody>
      </p:sp>
      <p:sp>
        <p:nvSpPr>
          <p:cNvPr id="20" name="Text 18"/>
          <p:cNvSpPr/>
          <p:nvPr/>
        </p:nvSpPr>
        <p:spPr>
          <a:xfrm>
            <a:off x="4431953" y="4481066"/>
            <a:ext cx="1697682" cy="458440"/>
          </a:xfrm>
          <a:prstGeom prst="roundRect">
            <a:avLst>
              <a:gd name="adj" fmla="val 21470"/>
            </a:avLst>
          </a:prstGeom>
          <a:solidFill>
            <a:srgbClr val="FFFFFF"/>
          </a:solidFill>
          <a:ln w="6350">
            <a:solidFill>
              <a:srgbClr val="D5E9EC"/>
            </a:solidFill>
            <a:prstDash val="solid"/>
          </a:ln>
        </p:spPr>
        <p:txBody>
          <a:bodyPr wrap="none" lIns="0" tIns="0" rIns="0" bIns="0" rtlCol="0" anchor="ctr">
            <a:normAutofit/>
          </a:bodyPr>
          <a:lstStyle/>
          <a:p>
            <a:pPr marL="0" indent="0" algn="ctr">
              <a:lnSpc>
                <a:spcPts val="1960"/>
              </a:lnSpc>
              <a:buNone/>
            </a:pPr>
            <a:r>
              <a:rPr lang="en-US" sz="1400" b="1" dirty="0">
                <a:solidFill>
                  <a:srgbClr val="13343C"/>
                </a:solidFill>
                <a:latin typeface="Inter" pitchFamily="34" charset="0"/>
                <a:ea typeface="Inter" pitchFamily="34" charset="-122"/>
                <a:cs typeface="Inter" pitchFamily="34" charset="-120"/>
              </a:rPr>
              <a:t>Sent to hospital</a:t>
            </a:r>
            <a:endParaRPr lang="en-US" sz="1400" dirty="0"/>
          </a:p>
        </p:txBody>
      </p:sp>
      <p:sp>
        <p:nvSpPr>
          <p:cNvPr id="21" name="Text 19"/>
          <p:cNvSpPr/>
          <p:nvPr/>
        </p:nvSpPr>
        <p:spPr>
          <a:xfrm>
            <a:off x="6209010" y="4559151"/>
            <a:ext cx="2667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891B2"/>
                </a:solidFill>
                <a:latin typeface="Inter" pitchFamily="34" charset="0"/>
                <a:ea typeface="Inter" pitchFamily="34" charset="-122"/>
                <a:cs typeface="Inter" pitchFamily="34" charset="-120"/>
              </a:rPr>
              <a:t>→</a:t>
            </a:r>
            <a:endParaRPr lang="en-US" sz="1700" dirty="0"/>
          </a:p>
        </p:txBody>
      </p:sp>
      <p:sp>
        <p:nvSpPr>
          <p:cNvPr id="22" name="Text 20"/>
          <p:cNvSpPr/>
          <p:nvPr/>
        </p:nvSpPr>
        <p:spPr>
          <a:xfrm>
            <a:off x="6504285" y="4481066"/>
            <a:ext cx="1844725" cy="458440"/>
          </a:xfrm>
          <a:prstGeom prst="roundRect">
            <a:avLst>
              <a:gd name="adj" fmla="val 21470"/>
            </a:avLst>
          </a:prstGeom>
          <a:solidFill>
            <a:srgbClr val="FFFFFF"/>
          </a:solidFill>
          <a:ln w="6350">
            <a:solidFill>
              <a:srgbClr val="D5E9EC"/>
            </a:solidFill>
            <a:prstDash val="solid"/>
          </a:ln>
        </p:spPr>
        <p:txBody>
          <a:bodyPr wrap="none" lIns="0" tIns="0" rIns="0" bIns="0" rtlCol="0" anchor="ctr">
            <a:normAutofit/>
          </a:bodyPr>
          <a:lstStyle/>
          <a:p>
            <a:pPr marL="0" indent="0" algn="ctr">
              <a:lnSpc>
                <a:spcPts val="1960"/>
              </a:lnSpc>
              <a:buNone/>
            </a:pPr>
            <a:r>
              <a:rPr lang="en-US" sz="1400" b="1" dirty="0">
                <a:solidFill>
                  <a:srgbClr val="13343C"/>
                </a:solidFill>
                <a:latin typeface="Inter" pitchFamily="34" charset="0"/>
                <a:ea typeface="Inter" pitchFamily="34" charset="-122"/>
                <a:cs typeface="Inter" pitchFamily="34" charset="-120"/>
              </a:rPr>
              <a:t>Answered by site</a:t>
            </a:r>
            <a:endParaRPr lang="en-US" sz="1400" dirty="0"/>
          </a:p>
        </p:txBody>
      </p:sp>
      <p:sp>
        <p:nvSpPr>
          <p:cNvPr id="23" name="Text 21"/>
          <p:cNvSpPr/>
          <p:nvPr/>
        </p:nvSpPr>
        <p:spPr>
          <a:xfrm>
            <a:off x="8428385" y="4559151"/>
            <a:ext cx="2667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891B2"/>
                </a:solidFill>
                <a:latin typeface="Inter" pitchFamily="34" charset="0"/>
                <a:ea typeface="Inter" pitchFamily="34" charset="-122"/>
                <a:cs typeface="Inter" pitchFamily="34" charset="-120"/>
              </a:rPr>
              <a:t>→</a:t>
            </a:r>
            <a:endParaRPr lang="en-US" sz="1700" dirty="0"/>
          </a:p>
        </p:txBody>
      </p:sp>
      <p:sp>
        <p:nvSpPr>
          <p:cNvPr id="24" name="Text 22"/>
          <p:cNvSpPr/>
          <p:nvPr/>
        </p:nvSpPr>
        <p:spPr>
          <a:xfrm>
            <a:off x="8723660" y="4481066"/>
            <a:ext cx="961529" cy="458440"/>
          </a:xfrm>
          <a:prstGeom prst="roundRect">
            <a:avLst>
              <a:gd name="adj" fmla="val 21470"/>
            </a:avLst>
          </a:prstGeom>
          <a:solidFill>
            <a:srgbClr val="FFFFFF"/>
          </a:solidFill>
          <a:ln w="6350">
            <a:solidFill>
              <a:srgbClr val="D5E9EC"/>
            </a:solidFill>
            <a:prstDash val="solid"/>
          </a:ln>
        </p:spPr>
        <p:txBody>
          <a:bodyPr wrap="none" lIns="0" tIns="0" rIns="0" bIns="0" rtlCol="0" anchor="ctr">
            <a:normAutofit/>
          </a:bodyPr>
          <a:lstStyle/>
          <a:p>
            <a:pPr marL="0" indent="0" algn="ctr">
              <a:lnSpc>
                <a:spcPts val="1960"/>
              </a:lnSpc>
              <a:buNone/>
            </a:pPr>
            <a:r>
              <a:rPr lang="en-US" sz="1400" b="1" dirty="0">
                <a:solidFill>
                  <a:srgbClr val="13343C"/>
                </a:solidFill>
                <a:latin typeface="Inter" pitchFamily="34" charset="0"/>
                <a:ea typeface="Inter" pitchFamily="34" charset="-122"/>
                <a:cs typeface="Inter" pitchFamily="34" charset="-120"/>
              </a:rPr>
              <a:t>Closed</a:t>
            </a:r>
            <a:endParaRPr lang="en-US" sz="1400" dirty="0"/>
          </a:p>
        </p:txBody>
      </p:sp>
      <p:sp>
        <p:nvSpPr>
          <p:cNvPr id="25" name="Text 23"/>
          <p:cNvSpPr/>
          <p:nvPr/>
        </p:nvSpPr>
        <p:spPr>
          <a:xfrm>
            <a:off x="812800" y="5031581"/>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626D"/>
                </a:solidFill>
                <a:latin typeface="Inter" pitchFamily="34" charset="0"/>
                <a:ea typeface="Inter" pitchFamily="34" charset="-122"/>
                <a:cs typeface="Inter" pitchFamily="34" charset="-120"/>
              </a:rPr>
              <a:t>Reopened if the check still fails.</a:t>
            </a:r>
            <a:endParaRPr lang="en-US" sz="13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Paritty · Edit checks and the query lifecycle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RECONCILIATION AND MEDICAL REVIEW</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Safety, labs and liver signals.</a:t>
            </a:r>
            <a:endParaRPr lang="en-US" sz="3400" dirty="0"/>
          </a:p>
        </p:txBody>
      </p:sp>
      <p:sp>
        <p:nvSpPr>
          <p:cNvPr id="4" name="Shape 2"/>
          <p:cNvSpPr/>
          <p:nvPr/>
        </p:nvSpPr>
        <p:spPr>
          <a:xfrm>
            <a:off x="815975" y="1852265"/>
            <a:ext cx="5073650" cy="3656112"/>
          </a:xfrm>
          <a:prstGeom prst="roundRect">
            <a:avLst>
              <a:gd name="adj" fmla="val 3387"/>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5" name="Text 3"/>
          <p:cNvSpPr/>
          <p:nvPr/>
        </p:nvSpPr>
        <p:spPr>
          <a:xfrm>
            <a:off x="1047750" y="2058640"/>
            <a:ext cx="47484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626D"/>
                </a:solidFill>
                <a:latin typeface="Inter" pitchFamily="34" charset="0"/>
                <a:ea typeface="Inter" pitchFamily="34" charset="-122"/>
                <a:cs typeface="Inter" pitchFamily="34" charset="-120"/>
              </a:rPr>
              <a:t>TWO DATABASES, ONE TRUTH</a:t>
            </a:r>
            <a:endParaRPr lang="en-US" sz="1200" dirty="0"/>
          </a:p>
        </p:txBody>
      </p:sp>
      <p:sp>
        <p:nvSpPr>
          <p:cNvPr id="6" name="Shape 4"/>
          <p:cNvSpPr/>
          <p:nvPr/>
        </p:nvSpPr>
        <p:spPr>
          <a:xfrm>
            <a:off x="1050925" y="2402136"/>
            <a:ext cx="2102247" cy="981670"/>
          </a:xfrm>
          <a:prstGeom prst="roundRect">
            <a:avLst>
              <a:gd name="adj" fmla="val 10026"/>
            </a:avLst>
          </a:prstGeom>
          <a:solidFill>
            <a:srgbClr val="F3FAFB"/>
          </a:solidFill>
          <a:ln w="6350">
            <a:solidFill>
              <a:srgbClr val="D5E9EC"/>
            </a:solidFill>
            <a:prstDash val="solid"/>
          </a:ln>
        </p:spPr>
        <p:txBody>
          <a:bodyPr/>
          <a:lstStyle/>
          <a:p>
            <a:endParaRPr lang="en-US"/>
          </a:p>
        </p:txBody>
      </p:sp>
      <p:sp>
        <p:nvSpPr>
          <p:cNvPr id="7" name="Text 5"/>
          <p:cNvSpPr/>
          <p:nvPr/>
        </p:nvSpPr>
        <p:spPr>
          <a:xfrm>
            <a:off x="1193800" y="2532311"/>
            <a:ext cx="18709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EDC</a:t>
            </a:r>
            <a:endParaRPr lang="en-US" sz="1200" dirty="0"/>
          </a:p>
        </p:txBody>
      </p:sp>
      <p:sp>
        <p:nvSpPr>
          <p:cNvPr id="8" name="Text 6"/>
          <p:cNvSpPr/>
          <p:nvPr/>
        </p:nvSpPr>
        <p:spPr>
          <a:xfrm>
            <a:off x="1193800" y="2796431"/>
            <a:ext cx="1870992"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343C"/>
                </a:solidFill>
                <a:latin typeface="Inter" pitchFamily="34" charset="0"/>
                <a:ea typeface="Inter" pitchFamily="34" charset="-122"/>
                <a:cs typeface="Inter" pitchFamily="34" charset="-120"/>
              </a:rPr>
              <a:t>Acute myocardial infarction</a:t>
            </a:r>
            <a:endParaRPr lang="en-US" sz="1500" dirty="0"/>
          </a:p>
        </p:txBody>
      </p:sp>
      <p:sp>
        <p:nvSpPr>
          <p:cNvPr id="9" name="Text 7"/>
          <p:cNvSpPr/>
          <p:nvPr/>
        </p:nvSpPr>
        <p:spPr>
          <a:xfrm>
            <a:off x="3257947" y="2697411"/>
            <a:ext cx="24045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891B2"/>
                </a:solidFill>
                <a:latin typeface="Inter" pitchFamily="34" charset="0"/>
                <a:ea typeface="Inter" pitchFamily="34" charset="-122"/>
                <a:cs typeface="Inter" pitchFamily="34" charset="-120"/>
              </a:rPr>
              <a:t>=</a:t>
            </a:r>
            <a:endParaRPr lang="en-US" sz="2200" dirty="0"/>
          </a:p>
        </p:txBody>
      </p:sp>
      <p:sp>
        <p:nvSpPr>
          <p:cNvPr id="10" name="Shape 8"/>
          <p:cNvSpPr/>
          <p:nvPr/>
        </p:nvSpPr>
        <p:spPr>
          <a:xfrm>
            <a:off x="3552379" y="2516436"/>
            <a:ext cx="2102296" cy="753070"/>
          </a:xfrm>
          <a:prstGeom prst="roundRect">
            <a:avLst>
              <a:gd name="adj" fmla="val 13070"/>
            </a:avLst>
          </a:prstGeom>
          <a:solidFill>
            <a:srgbClr val="F3FAFB"/>
          </a:solidFill>
          <a:ln w="6350">
            <a:solidFill>
              <a:srgbClr val="D5E9EC"/>
            </a:solidFill>
            <a:prstDash val="solid"/>
          </a:ln>
        </p:spPr>
        <p:txBody>
          <a:bodyPr/>
          <a:lstStyle/>
          <a:p>
            <a:endParaRPr lang="en-US"/>
          </a:p>
        </p:txBody>
      </p:sp>
      <p:sp>
        <p:nvSpPr>
          <p:cNvPr id="11" name="Text 9"/>
          <p:cNvSpPr/>
          <p:nvPr/>
        </p:nvSpPr>
        <p:spPr>
          <a:xfrm>
            <a:off x="3695254" y="2646611"/>
            <a:ext cx="187104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Safety database</a:t>
            </a:r>
            <a:endParaRPr lang="en-US" sz="1200" dirty="0"/>
          </a:p>
        </p:txBody>
      </p:sp>
      <p:sp>
        <p:nvSpPr>
          <p:cNvPr id="12" name="Text 10"/>
          <p:cNvSpPr/>
          <p:nvPr/>
        </p:nvSpPr>
        <p:spPr>
          <a:xfrm>
            <a:off x="3695254" y="2910731"/>
            <a:ext cx="18710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343C"/>
                </a:solidFill>
                <a:latin typeface="Inter" pitchFamily="34" charset="0"/>
                <a:ea typeface="Inter" pitchFamily="34" charset="-122"/>
                <a:cs typeface="Inter" pitchFamily="34" charset="-120"/>
              </a:rPr>
              <a:t>Heart attack</a:t>
            </a:r>
            <a:endParaRPr lang="en-US" sz="1500" dirty="0"/>
          </a:p>
        </p:txBody>
      </p:sp>
      <p:sp>
        <p:nvSpPr>
          <p:cNvPr id="13" name="Text 11"/>
          <p:cNvSpPr/>
          <p:nvPr/>
        </p:nvSpPr>
        <p:spPr>
          <a:xfrm>
            <a:off x="1047750" y="3513981"/>
            <a:ext cx="1206500" cy="314920"/>
          </a:xfrm>
          <a:custGeom>
            <a:avLst/>
            <a:gdLst/>
            <a:ahLst/>
            <a:cxnLst/>
            <a:rect l="l" t="t" r="r" b="b"/>
            <a:pathLst>
              <a:path w="1206500" h="314920">
                <a:moveTo>
                  <a:pt x="157460" y="0"/>
                </a:moveTo>
                <a:lnTo>
                  <a:pt x="1049040" y="0"/>
                </a:lnTo>
                <a:arcTo wR="157460" hR="157460" stAng="16200000" swAng="5400000"/>
                <a:lnTo>
                  <a:pt x="1206500" y="157460"/>
                </a:lnTo>
                <a:arcTo wR="157460" hR="157460" stAng="0" swAng="5400000"/>
                <a:lnTo>
                  <a:pt x="157460" y="314920"/>
                </a:lnTo>
                <a:arcTo wR="157460" hR="157460" stAng="5400000" swAng="5400000"/>
                <a:lnTo>
                  <a:pt x="0" y="157460"/>
                </a:lnTo>
                <a:arcTo wR="157460" hR="157460" stAng="10800000" swAng="5400000"/>
                <a:close/>
              </a:path>
            </a:pathLst>
          </a:custGeom>
          <a:solidFill>
            <a:srgbClr val="CCFBF1"/>
          </a:solidFill>
          <a:ln/>
        </p:spPr>
        <p:txBody>
          <a:bodyPr wrap="square" lIns="0" tIns="50800" rIns="0" bIns="25400" rtlCol="0" anchor="t">
            <a:normAutofit/>
          </a:bodyPr>
          <a:lstStyle/>
          <a:p>
            <a:pPr marL="0" indent="0" algn="ctr">
              <a:lnSpc>
                <a:spcPts val="1680"/>
              </a:lnSpc>
              <a:buNone/>
            </a:pPr>
            <a:r>
              <a:rPr lang="en-US" sz="1200" b="1" dirty="0">
                <a:solidFill>
                  <a:srgbClr val="0F766E"/>
                </a:solidFill>
                <a:latin typeface="Inter" pitchFamily="34" charset="0"/>
                <a:ea typeface="Inter" pitchFamily="34" charset="-122"/>
                <a:cs typeface="Inter" pitchFamily="34" charset="-120"/>
              </a:rPr>
              <a:t>Acceptable</a:t>
            </a:r>
            <a:endParaRPr lang="en-US" sz="1200" dirty="0"/>
          </a:p>
        </p:txBody>
      </p:sp>
      <p:sp>
        <p:nvSpPr>
          <p:cNvPr id="14" name="Text 12"/>
          <p:cNvSpPr/>
          <p:nvPr/>
        </p:nvSpPr>
        <p:spPr>
          <a:xfrm>
            <a:off x="2355850" y="3555851"/>
            <a:ext cx="340106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343C"/>
                </a:solidFill>
                <a:latin typeface="Inter" pitchFamily="34" charset="0"/>
                <a:ea typeface="Inter" pitchFamily="34" charset="-122"/>
                <a:cs typeface="Inter" pitchFamily="34" charset="-120"/>
              </a:rPr>
              <a:t>A spelling difference, clinically identical</a:t>
            </a:r>
            <a:endParaRPr lang="en-US" sz="1300" dirty="0"/>
          </a:p>
        </p:txBody>
      </p:sp>
      <p:sp>
        <p:nvSpPr>
          <p:cNvPr id="15" name="Text 13"/>
          <p:cNvSpPr/>
          <p:nvPr/>
        </p:nvSpPr>
        <p:spPr>
          <a:xfrm>
            <a:off x="1047750" y="3955901"/>
            <a:ext cx="1206500" cy="314920"/>
          </a:xfrm>
          <a:custGeom>
            <a:avLst/>
            <a:gdLst/>
            <a:ahLst/>
            <a:cxnLst/>
            <a:rect l="l" t="t" r="r" b="b"/>
            <a:pathLst>
              <a:path w="1206500" h="314920">
                <a:moveTo>
                  <a:pt x="157460" y="0"/>
                </a:moveTo>
                <a:lnTo>
                  <a:pt x="1049040" y="0"/>
                </a:lnTo>
                <a:arcTo wR="157460" hR="157460" stAng="16200000" swAng="5400000"/>
                <a:lnTo>
                  <a:pt x="1206500" y="157460"/>
                </a:lnTo>
                <a:arcTo wR="157460" hR="157460" stAng="0" swAng="5400000"/>
                <a:lnTo>
                  <a:pt x="157460" y="314920"/>
                </a:lnTo>
                <a:arcTo wR="157460" hR="157460" stAng="5400000" swAng="5400000"/>
                <a:lnTo>
                  <a:pt x="0" y="157460"/>
                </a:lnTo>
                <a:arcTo wR="157460" hR="157460" stAng="10800000" swAng="5400000"/>
                <a:close/>
              </a:path>
            </a:pathLst>
          </a:custGeom>
          <a:solidFill>
            <a:srgbClr val="FEF3C7"/>
          </a:solidFill>
          <a:ln/>
        </p:spPr>
        <p:txBody>
          <a:bodyPr wrap="square" lIns="0" tIns="50800" rIns="0" bIns="25400" rtlCol="0" anchor="t">
            <a:normAutofit/>
          </a:bodyPr>
          <a:lstStyle/>
          <a:p>
            <a:pPr marL="0" indent="0" algn="ctr">
              <a:lnSpc>
                <a:spcPts val="1680"/>
              </a:lnSpc>
              <a:buNone/>
            </a:pPr>
            <a:r>
              <a:rPr lang="en-US" sz="1200" b="1" dirty="0">
                <a:solidFill>
                  <a:srgbClr val="92400E"/>
                </a:solidFill>
                <a:latin typeface="Inter" pitchFamily="34" charset="0"/>
                <a:ea typeface="Inter" pitchFamily="34" charset="-122"/>
                <a:cs typeface="Inter" pitchFamily="34" charset="-120"/>
              </a:rPr>
              <a:t>Actionable</a:t>
            </a:r>
            <a:endParaRPr lang="en-US" sz="1200" dirty="0"/>
          </a:p>
        </p:txBody>
      </p:sp>
      <p:sp>
        <p:nvSpPr>
          <p:cNvPr id="16" name="Text 14"/>
          <p:cNvSpPr/>
          <p:nvPr/>
        </p:nvSpPr>
        <p:spPr>
          <a:xfrm>
            <a:off x="2355850" y="3997771"/>
            <a:ext cx="340106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343C"/>
                </a:solidFill>
                <a:latin typeface="Inter" pitchFamily="34" charset="0"/>
                <a:ea typeface="Inter" pitchFamily="34" charset="-122"/>
                <a:cs typeface="Inter" pitchFamily="34" charset="-120"/>
              </a:rPr>
              <a:t>Onset date differs by 3 days</a:t>
            </a:r>
            <a:endParaRPr lang="en-US" sz="1300" dirty="0"/>
          </a:p>
        </p:txBody>
      </p:sp>
      <p:sp>
        <p:nvSpPr>
          <p:cNvPr id="17" name="Text 15"/>
          <p:cNvSpPr/>
          <p:nvPr/>
        </p:nvSpPr>
        <p:spPr>
          <a:xfrm>
            <a:off x="1047750" y="4397821"/>
            <a:ext cx="1206500" cy="314920"/>
          </a:xfrm>
          <a:custGeom>
            <a:avLst/>
            <a:gdLst/>
            <a:ahLst/>
            <a:cxnLst/>
            <a:rect l="l" t="t" r="r" b="b"/>
            <a:pathLst>
              <a:path w="1206500" h="314920">
                <a:moveTo>
                  <a:pt x="157460" y="0"/>
                </a:moveTo>
                <a:lnTo>
                  <a:pt x="1049040" y="0"/>
                </a:lnTo>
                <a:arcTo wR="157460" hR="157460" stAng="16200000" swAng="5400000"/>
                <a:lnTo>
                  <a:pt x="1206500" y="157460"/>
                </a:lnTo>
                <a:arcTo wR="157460" hR="157460" stAng="0" swAng="5400000"/>
                <a:lnTo>
                  <a:pt x="157460" y="314920"/>
                </a:lnTo>
                <a:arcTo wR="157460" hR="157460" stAng="5400000" swAng="5400000"/>
                <a:lnTo>
                  <a:pt x="0" y="157460"/>
                </a:lnTo>
                <a:arcTo wR="157460" hR="157460" stAng="10800000" swAng="5400000"/>
                <a:close/>
              </a:path>
            </a:pathLst>
          </a:custGeom>
          <a:solidFill>
            <a:srgbClr val="FEE2E2"/>
          </a:solidFill>
          <a:ln/>
        </p:spPr>
        <p:txBody>
          <a:bodyPr wrap="square" lIns="0" tIns="50800" rIns="0" bIns="25400" rtlCol="0" anchor="t">
            <a:normAutofit/>
          </a:bodyPr>
          <a:lstStyle/>
          <a:p>
            <a:pPr marL="0" indent="0" algn="ctr">
              <a:lnSpc>
                <a:spcPts val="1680"/>
              </a:lnSpc>
              <a:buNone/>
            </a:pPr>
            <a:r>
              <a:rPr lang="en-US" sz="1200" b="1" dirty="0">
                <a:solidFill>
                  <a:srgbClr val="991B1B"/>
                </a:solidFill>
                <a:latin typeface="Inter" pitchFamily="34" charset="0"/>
                <a:ea typeface="Inter" pitchFamily="34" charset="-122"/>
                <a:cs typeface="Inter" pitchFamily="34" charset="-120"/>
              </a:rPr>
              <a:t>Critical</a:t>
            </a:r>
            <a:endParaRPr lang="en-US" sz="1200" dirty="0"/>
          </a:p>
        </p:txBody>
      </p:sp>
      <p:sp>
        <p:nvSpPr>
          <p:cNvPr id="18" name="Text 16"/>
          <p:cNvSpPr/>
          <p:nvPr/>
        </p:nvSpPr>
        <p:spPr>
          <a:xfrm>
            <a:off x="2355850" y="4439692"/>
            <a:ext cx="340106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343C"/>
                </a:solidFill>
                <a:latin typeface="Inter" pitchFamily="34" charset="0"/>
                <a:ea typeface="Inter" pitchFamily="34" charset="-122"/>
                <a:cs typeface="Inter" pitchFamily="34" charset="-120"/>
              </a:rPr>
              <a:t>Fatal in one system, mild in the other</a:t>
            </a:r>
            <a:endParaRPr lang="en-US" sz="1300" dirty="0"/>
          </a:p>
        </p:txBody>
      </p:sp>
      <p:sp>
        <p:nvSpPr>
          <p:cNvPr id="19" name="Text 17"/>
          <p:cNvSpPr/>
          <p:nvPr/>
        </p:nvSpPr>
        <p:spPr>
          <a:xfrm>
            <a:off x="1047750" y="4839742"/>
            <a:ext cx="474840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626D"/>
                </a:solidFill>
                <a:latin typeface="Inter" pitchFamily="34" charset="0"/>
                <a:ea typeface="Inter" pitchFamily="34" charset="-122"/>
                <a:cs typeface="Inter" pitchFamily="34" charset="-120"/>
              </a:rPr>
              <a:t>Central lab matching also flags unit mix-ups such as mg/dL versus mmol/L.</a:t>
            </a:r>
            <a:endParaRPr lang="en-US" sz="1300" dirty="0"/>
          </a:p>
        </p:txBody>
      </p:sp>
      <p:sp>
        <p:nvSpPr>
          <p:cNvPr id="20" name="Shape 18"/>
          <p:cNvSpPr/>
          <p:nvPr/>
        </p:nvSpPr>
        <p:spPr>
          <a:xfrm>
            <a:off x="6197600" y="1849090"/>
            <a:ext cx="5181600" cy="2914650"/>
          </a:xfrm>
          <a:prstGeom prst="roundRect">
            <a:avLst>
              <a:gd name="adj" fmla="val 3486"/>
            </a:avLst>
          </a:prstGeom>
          <a:solidFill>
            <a:srgbClr val="F3FAFB"/>
          </a:solidFill>
          <a:ln/>
        </p:spPr>
        <p:txBody>
          <a:bodyPr/>
          <a:lstStyle/>
          <a:p>
            <a:endParaRPr lang="en-US"/>
          </a:p>
        </p:txBody>
      </p:sp>
      <p:pic>
        <p:nvPicPr>
          <p:cNvPr id="21" name="Image 0" descr="eDISH scatter plot with a shaded Hy's Law range and two flagged points"/>
          <p:cNvPicPr>
            <a:picLocks noChangeAspect="1"/>
          </p:cNvPicPr>
          <p:nvPr/>
        </p:nvPicPr>
        <p:blipFill>
          <a:blip r:embed="rId3"/>
          <a:srcRect l="-96" r="-96"/>
          <a:stretch/>
        </p:blipFill>
        <p:spPr>
          <a:xfrm>
            <a:off x="6203950" y="1855440"/>
            <a:ext cx="5168900" cy="2901950"/>
          </a:xfrm>
          <a:prstGeom prst="roundRect">
            <a:avLst>
              <a:gd name="adj" fmla="val 3282"/>
            </a:avLst>
          </a:prstGeom>
        </p:spPr>
      </p:pic>
      <p:sp>
        <p:nvSpPr>
          <p:cNvPr id="22" name="Shape 19"/>
          <p:cNvSpPr/>
          <p:nvPr/>
        </p:nvSpPr>
        <p:spPr>
          <a:xfrm>
            <a:off x="6200775" y="1852265"/>
            <a:ext cx="5175250" cy="2908300"/>
          </a:xfrm>
          <a:prstGeom prst="roundRect">
            <a:avLst>
              <a:gd name="adj" fmla="val 3384"/>
            </a:avLst>
          </a:prstGeom>
          <a:noFill/>
          <a:ln w="6350">
            <a:solidFill>
              <a:srgbClr val="D5E9EC"/>
            </a:solidFill>
            <a:prstDash val="solid"/>
          </a:ln>
        </p:spPr>
        <p:txBody>
          <a:bodyPr/>
          <a:lstStyle/>
          <a:p>
            <a:endParaRPr lang="en-US"/>
          </a:p>
        </p:txBody>
      </p:sp>
      <p:sp>
        <p:nvSpPr>
          <p:cNvPr id="23" name="Text 20"/>
          <p:cNvSpPr/>
          <p:nvPr/>
        </p:nvSpPr>
        <p:spPr>
          <a:xfrm>
            <a:off x="6197600" y="4865340"/>
            <a:ext cx="533704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343C"/>
                </a:solidFill>
                <a:latin typeface="Inter" pitchFamily="34" charset="0"/>
                <a:ea typeface="Inter" pitchFamily="34" charset="-122"/>
                <a:cs typeface="Inter" pitchFamily="34" charset="-120"/>
              </a:rPr>
              <a:t>Hy's Law range: ALT or AST above 3× the upper limit of normal with bilirubin above 2× is flagged for medical review.</a:t>
            </a:r>
            <a:endParaRPr lang="en-US" sz="1300" dirty="0"/>
          </a:p>
        </p:txBody>
      </p:sp>
      <p:sp>
        <p:nvSpPr>
          <p:cNvPr id="24"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Paritty · Sample data from the walkthrough video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SITE RISK AND LOCK FORECAST</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Spot risk early. Know the lock date.</a:t>
            </a:r>
            <a:endParaRPr lang="en-US" sz="3400" dirty="0"/>
          </a:p>
        </p:txBody>
      </p:sp>
      <p:sp>
        <p:nvSpPr>
          <p:cNvPr id="4" name="Shape 2"/>
          <p:cNvSpPr/>
          <p:nvPr/>
        </p:nvSpPr>
        <p:spPr>
          <a:xfrm>
            <a:off x="815975" y="1852265"/>
            <a:ext cx="5073650" cy="3127821"/>
          </a:xfrm>
          <a:prstGeom prst="roundRect">
            <a:avLst>
              <a:gd name="adj" fmla="val 3959"/>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5" name="Text 3"/>
          <p:cNvSpPr/>
          <p:nvPr/>
        </p:nvSpPr>
        <p:spPr>
          <a:xfrm>
            <a:off x="1047750" y="2058640"/>
            <a:ext cx="47484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626D"/>
                </a:solidFill>
                <a:latin typeface="Inter" pitchFamily="34" charset="0"/>
                <a:ea typeface="Inter" pitchFamily="34" charset="-122"/>
                <a:cs typeface="Inter" pitchFamily="34" charset="-120"/>
              </a:rPr>
              <a:t>EIGHT KEY RISK INDICATORS</a:t>
            </a:r>
            <a:endParaRPr lang="en-US" sz="1200" dirty="0"/>
          </a:p>
        </p:txBody>
      </p:sp>
      <p:sp>
        <p:nvSpPr>
          <p:cNvPr id="6" name="Text 4"/>
          <p:cNvSpPr/>
          <p:nvPr/>
        </p:nvSpPr>
        <p:spPr>
          <a:xfrm>
            <a:off x="1047750" y="239896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Protocol deviations</a:t>
            </a:r>
            <a:endParaRPr lang="en-US" sz="1300" dirty="0"/>
          </a:p>
        </p:txBody>
      </p:sp>
      <p:sp>
        <p:nvSpPr>
          <p:cNvPr id="7" name="Text 5"/>
          <p:cNvSpPr/>
          <p:nvPr/>
        </p:nvSpPr>
        <p:spPr>
          <a:xfrm>
            <a:off x="3352800" y="239896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Adverse event reporting</a:t>
            </a:r>
            <a:endParaRPr lang="en-US" sz="1300" dirty="0"/>
          </a:p>
        </p:txBody>
      </p:sp>
      <p:sp>
        <p:nvSpPr>
          <p:cNvPr id="8" name="Text 6"/>
          <p:cNvSpPr/>
          <p:nvPr/>
        </p:nvSpPr>
        <p:spPr>
          <a:xfrm>
            <a:off x="1047750" y="263009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SAE reporting delay</a:t>
            </a:r>
            <a:endParaRPr lang="en-US" sz="1300" dirty="0"/>
          </a:p>
        </p:txBody>
      </p:sp>
      <p:sp>
        <p:nvSpPr>
          <p:cNvPr id="9" name="Text 7"/>
          <p:cNvSpPr/>
          <p:nvPr/>
        </p:nvSpPr>
        <p:spPr>
          <a:xfrm>
            <a:off x="3352800" y="263009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Query response time</a:t>
            </a:r>
            <a:endParaRPr lang="en-US" sz="1300" dirty="0"/>
          </a:p>
        </p:txBody>
      </p:sp>
      <p:sp>
        <p:nvSpPr>
          <p:cNvPr id="10" name="Text 8"/>
          <p:cNvSpPr/>
          <p:nvPr/>
        </p:nvSpPr>
        <p:spPr>
          <a:xfrm>
            <a:off x="1047750" y="286122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Queries reopened</a:t>
            </a:r>
            <a:endParaRPr lang="en-US" sz="1300" dirty="0"/>
          </a:p>
        </p:txBody>
      </p:sp>
      <p:sp>
        <p:nvSpPr>
          <p:cNvPr id="11" name="Text 9"/>
          <p:cNvSpPr/>
          <p:nvPr/>
        </p:nvSpPr>
        <p:spPr>
          <a:xfrm>
            <a:off x="3352800" y="286122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Screen failure rate</a:t>
            </a:r>
            <a:endParaRPr lang="en-US" sz="1300" dirty="0"/>
          </a:p>
        </p:txBody>
      </p:sp>
      <p:sp>
        <p:nvSpPr>
          <p:cNvPr id="12" name="Text 10"/>
          <p:cNvSpPr/>
          <p:nvPr/>
        </p:nvSpPr>
        <p:spPr>
          <a:xfrm>
            <a:off x="1047750" y="309235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Visit adherence</a:t>
            </a:r>
            <a:endParaRPr lang="en-US" sz="1300" dirty="0"/>
          </a:p>
        </p:txBody>
      </p:sp>
      <p:sp>
        <p:nvSpPr>
          <p:cNvPr id="13" name="Text 11"/>
          <p:cNvSpPr/>
          <p:nvPr/>
        </p:nvSpPr>
        <p:spPr>
          <a:xfrm>
            <a:off x="3352800" y="3092351"/>
            <a:ext cx="237420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343C"/>
                </a:solidFill>
                <a:latin typeface="Inter" pitchFamily="34" charset="0"/>
                <a:ea typeface="Inter" pitchFamily="34" charset="-122"/>
                <a:cs typeface="Inter" pitchFamily="34" charset="-120"/>
              </a:rPr>
              <a:t>Missing data</a:t>
            </a:r>
            <a:endParaRPr lang="en-US" sz="1300" dirty="0"/>
          </a:p>
        </p:txBody>
      </p:sp>
      <p:sp>
        <p:nvSpPr>
          <p:cNvPr id="14" name="Text 12"/>
          <p:cNvSpPr/>
          <p:nvPr/>
        </p:nvSpPr>
        <p:spPr>
          <a:xfrm>
            <a:off x="1047750" y="3450481"/>
            <a:ext cx="474840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343C"/>
                </a:solidFill>
                <a:latin typeface="Inter" pitchFamily="34" charset="0"/>
                <a:ea typeface="Inter" pitchFamily="34" charset="-122"/>
                <a:cs typeface="Inter" pitchFamily="34" charset="-120"/>
              </a:rPr>
              <a:t>A machine-learning model turns them into a 0 to 100 site risk score.</a:t>
            </a:r>
            <a:endParaRPr lang="en-US" sz="1400" dirty="0"/>
          </a:p>
        </p:txBody>
      </p:sp>
      <p:sp>
        <p:nvSpPr>
          <p:cNvPr id="15" name="Text 13"/>
          <p:cNvSpPr/>
          <p:nvPr/>
        </p:nvSpPr>
        <p:spPr>
          <a:xfrm>
            <a:off x="1047750" y="4075261"/>
            <a:ext cx="1144042" cy="340320"/>
          </a:xfrm>
          <a:prstGeom prst="roundRect">
            <a:avLst>
              <a:gd name="adj" fmla="val 50000"/>
            </a:avLst>
          </a:prstGeom>
          <a:solidFill>
            <a:srgbClr val="ECFEFF"/>
          </a:solidFill>
          <a:ln/>
        </p:spPr>
        <p:txBody>
          <a:bodyPr wrap="none" lIns="0" tIns="0" rIns="0" bIns="0" rtlCol="0" anchor="ctr">
            <a:normAutofit/>
          </a:bodyPr>
          <a:lstStyle/>
          <a:p>
            <a:pPr marL="0" indent="0" algn="ctr">
              <a:lnSpc>
                <a:spcPts val="1680"/>
              </a:lnSpc>
              <a:buNone/>
            </a:pPr>
            <a:r>
              <a:rPr lang="en-US" sz="1200" b="1" dirty="0">
                <a:solidFill>
                  <a:srgbClr val="155E75"/>
                </a:solidFill>
                <a:latin typeface="Inter" pitchFamily="34" charset="0"/>
                <a:ea typeface="Inter" pitchFamily="34" charset="-122"/>
                <a:cs typeface="Inter" pitchFamily="34" charset="-120"/>
              </a:rPr>
              <a:t>Visit agenda</a:t>
            </a:r>
            <a:endParaRPr lang="en-US" sz="1200" dirty="0"/>
          </a:p>
        </p:txBody>
      </p:sp>
      <p:sp>
        <p:nvSpPr>
          <p:cNvPr id="16" name="Text 14"/>
          <p:cNvSpPr/>
          <p:nvPr/>
        </p:nvSpPr>
        <p:spPr>
          <a:xfrm>
            <a:off x="2267992" y="4075261"/>
            <a:ext cx="1387624" cy="340320"/>
          </a:xfrm>
          <a:prstGeom prst="roundRect">
            <a:avLst>
              <a:gd name="adj" fmla="val 50000"/>
            </a:avLst>
          </a:prstGeom>
          <a:solidFill>
            <a:srgbClr val="ECFEFF"/>
          </a:solidFill>
          <a:ln/>
        </p:spPr>
        <p:txBody>
          <a:bodyPr wrap="none" lIns="0" tIns="0" rIns="0" bIns="0" rtlCol="0" anchor="ctr">
            <a:normAutofit/>
          </a:bodyPr>
          <a:lstStyle/>
          <a:p>
            <a:pPr marL="0" indent="0" algn="ctr">
              <a:lnSpc>
                <a:spcPts val="1680"/>
              </a:lnSpc>
              <a:buNone/>
            </a:pPr>
            <a:r>
              <a:rPr lang="en-US" sz="1200" b="1" dirty="0">
                <a:solidFill>
                  <a:srgbClr val="155E75"/>
                </a:solidFill>
                <a:latin typeface="Inter" pitchFamily="34" charset="0"/>
                <a:ea typeface="Inter" pitchFamily="34" charset="-122"/>
                <a:cs typeface="Inter" pitchFamily="34" charset="-120"/>
              </a:rPr>
              <a:t>Follow-up letter</a:t>
            </a:r>
            <a:endParaRPr lang="en-US" sz="1200" dirty="0"/>
          </a:p>
        </p:txBody>
      </p:sp>
      <p:sp>
        <p:nvSpPr>
          <p:cNvPr id="17" name="Text 15"/>
          <p:cNvSpPr/>
          <p:nvPr/>
        </p:nvSpPr>
        <p:spPr>
          <a:xfrm>
            <a:off x="3731816" y="4075261"/>
            <a:ext cx="1323082" cy="340320"/>
          </a:xfrm>
          <a:prstGeom prst="roundRect">
            <a:avLst>
              <a:gd name="adj" fmla="val 50000"/>
            </a:avLst>
          </a:prstGeom>
          <a:solidFill>
            <a:srgbClr val="ECFEFF"/>
          </a:solidFill>
          <a:ln/>
        </p:spPr>
        <p:txBody>
          <a:bodyPr wrap="none" lIns="0" tIns="0" rIns="0" bIns="0" rtlCol="0" anchor="ctr">
            <a:normAutofit/>
          </a:bodyPr>
          <a:lstStyle/>
          <a:p>
            <a:pPr marL="0" indent="0" algn="ctr">
              <a:lnSpc>
                <a:spcPts val="1680"/>
              </a:lnSpc>
              <a:buNone/>
            </a:pPr>
            <a:r>
              <a:rPr lang="en-US" sz="1200" b="1" dirty="0">
                <a:solidFill>
                  <a:srgbClr val="155E75"/>
                </a:solidFill>
                <a:latin typeface="Inter" pitchFamily="34" charset="0"/>
                <a:ea typeface="Inter" pitchFamily="34" charset="-122"/>
                <a:cs typeface="Inter" pitchFamily="34" charset="-120"/>
              </a:rPr>
              <a:t>Scorecard PDF</a:t>
            </a:r>
            <a:endParaRPr lang="en-US" sz="1200" dirty="0"/>
          </a:p>
        </p:txBody>
      </p:sp>
      <p:sp>
        <p:nvSpPr>
          <p:cNvPr id="18" name="Text 16"/>
          <p:cNvSpPr/>
          <p:nvPr/>
        </p:nvSpPr>
        <p:spPr>
          <a:xfrm>
            <a:off x="1047750" y="4542582"/>
            <a:ext cx="474840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626D"/>
                </a:solidFill>
                <a:latin typeface="Inter" pitchFamily="34" charset="0"/>
                <a:ea typeface="Inter" pitchFamily="34" charset="-122"/>
                <a:cs typeface="Inter" pitchFamily="34" charset="-120"/>
              </a:rPr>
              <a:t>Drafts only. A person approves.</a:t>
            </a:r>
            <a:endParaRPr lang="en-US" sz="1300" dirty="0"/>
          </a:p>
        </p:txBody>
      </p:sp>
      <p:sp>
        <p:nvSpPr>
          <p:cNvPr id="19" name="Shape 17"/>
          <p:cNvSpPr/>
          <p:nvPr/>
        </p:nvSpPr>
        <p:spPr>
          <a:xfrm>
            <a:off x="6197600" y="1849090"/>
            <a:ext cx="5181600" cy="2914650"/>
          </a:xfrm>
          <a:prstGeom prst="roundRect">
            <a:avLst>
              <a:gd name="adj" fmla="val 3486"/>
            </a:avLst>
          </a:prstGeom>
          <a:solidFill>
            <a:srgbClr val="F3FAFB"/>
          </a:solidFill>
          <a:ln/>
        </p:spPr>
        <p:txBody>
          <a:bodyPr/>
          <a:lstStyle/>
          <a:p>
            <a:endParaRPr lang="en-US"/>
          </a:p>
        </p:txBody>
      </p:sp>
      <p:pic>
        <p:nvPicPr>
          <p:cNvPr id="20" name="Image 0" descr="Lock forecast: predicted database lock date with P10 to P90 range, top blocker and a what-if"/>
          <p:cNvPicPr>
            <a:picLocks noChangeAspect="1"/>
          </p:cNvPicPr>
          <p:nvPr/>
        </p:nvPicPr>
        <p:blipFill>
          <a:blip r:embed="rId3"/>
          <a:srcRect l="-96" r="-96"/>
          <a:stretch/>
        </p:blipFill>
        <p:spPr>
          <a:xfrm>
            <a:off x="6203950" y="1855440"/>
            <a:ext cx="5168900" cy="2901950"/>
          </a:xfrm>
          <a:prstGeom prst="roundRect">
            <a:avLst>
              <a:gd name="adj" fmla="val 3282"/>
            </a:avLst>
          </a:prstGeom>
        </p:spPr>
      </p:pic>
      <p:sp>
        <p:nvSpPr>
          <p:cNvPr id="21" name="Shape 18"/>
          <p:cNvSpPr/>
          <p:nvPr/>
        </p:nvSpPr>
        <p:spPr>
          <a:xfrm>
            <a:off x="6200775" y="1852265"/>
            <a:ext cx="5175250" cy="2908300"/>
          </a:xfrm>
          <a:prstGeom prst="roundRect">
            <a:avLst>
              <a:gd name="adj" fmla="val 3384"/>
            </a:avLst>
          </a:prstGeom>
          <a:noFill/>
          <a:ln w="6350">
            <a:solidFill>
              <a:srgbClr val="D5E9EC"/>
            </a:solidFill>
            <a:prstDash val="solid"/>
          </a:ln>
        </p:spPr>
        <p:txBody>
          <a:bodyPr/>
          <a:lstStyle/>
          <a:p>
            <a:endParaRPr lang="en-US"/>
          </a:p>
        </p:txBody>
      </p:sp>
      <p:sp>
        <p:nvSpPr>
          <p:cNvPr id="22" name="Text 19"/>
          <p:cNvSpPr/>
          <p:nvPr/>
        </p:nvSpPr>
        <p:spPr>
          <a:xfrm>
            <a:off x="6197600" y="4865340"/>
            <a:ext cx="5337048"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343C"/>
                </a:solidFill>
                <a:latin typeface="Inter" pitchFamily="34" charset="0"/>
                <a:ea typeface="Inter" pitchFamily="34" charset="-122"/>
                <a:cs typeface="Inter" pitchFamily="34" charset="-120"/>
              </a:rPr>
              <a:t>Lock date from 1,000 simulations, with a P10 to P90 range. Blockers are ranked by days saved, and a what-if tests extra monitors at a slow site.</a:t>
            </a:r>
            <a:endParaRPr lang="en-US" sz="1300" dirty="0"/>
          </a:p>
        </p:txBody>
      </p:sp>
      <p:sp>
        <p:nvSpPr>
          <p:cNvPr id="23"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Paritty · Sample data from the walkthrough video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AND MORE</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Four more tools for the team.</a:t>
            </a:r>
            <a:endParaRPr lang="en-US" sz="3400" dirty="0"/>
          </a:p>
        </p:txBody>
      </p:sp>
      <p:sp>
        <p:nvSpPr>
          <p:cNvPr id="4" name="Shape 2"/>
          <p:cNvSpPr/>
          <p:nvPr/>
        </p:nvSpPr>
        <p:spPr>
          <a:xfrm>
            <a:off x="815975" y="1852265"/>
            <a:ext cx="5175250" cy="1817241"/>
          </a:xfrm>
          <a:prstGeom prst="roundRect">
            <a:avLst>
              <a:gd name="adj" fmla="val 6814"/>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5" name="Text 3"/>
          <p:cNvSpPr/>
          <p:nvPr/>
        </p:nvSpPr>
        <p:spPr>
          <a:xfrm>
            <a:off x="1073150" y="2058640"/>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626D"/>
                </a:solidFill>
                <a:latin typeface="Inter" pitchFamily="34" charset="0"/>
                <a:ea typeface="Inter" pitchFamily="34" charset="-122"/>
                <a:cs typeface="Inter" pitchFamily="34" charset="-120"/>
              </a:rPr>
              <a:t>ASK THE PROTOCOL</a:t>
            </a:r>
            <a:endParaRPr lang="en-US" sz="1200" dirty="0"/>
          </a:p>
        </p:txBody>
      </p:sp>
      <p:sp>
        <p:nvSpPr>
          <p:cNvPr id="6" name="Text 4"/>
          <p:cNvSpPr/>
          <p:nvPr/>
        </p:nvSpPr>
        <p:spPr>
          <a:xfrm>
            <a:off x="1073150" y="2348161"/>
            <a:ext cx="4800727" cy="317500"/>
          </a:xfrm>
          <a:prstGeom prst="rect">
            <a:avLst/>
          </a:prstGeom>
          <a:noFill/>
          <a:ln/>
        </p:spPr>
        <p:txBody>
          <a:bodyPr wrap="square" lIns="0" tIns="0" rIns="0" bIns="0" rtlCol="0" anchor="t">
            <a:normAutofit/>
          </a:bodyPr>
          <a:lstStyle/>
          <a:p>
            <a:pPr marL="0" indent="0" algn="l">
              <a:lnSpc>
                <a:spcPts val="2300"/>
              </a:lnSpc>
              <a:buNone/>
            </a:pPr>
            <a:r>
              <a:rPr lang="en-US" sz="2000" b="1" kern="0" spc="-50" dirty="0">
                <a:solidFill>
                  <a:srgbClr val="13343C"/>
                </a:solidFill>
                <a:latin typeface="Inter" pitchFamily="34" charset="0"/>
                <a:ea typeface="Inter" pitchFamily="34" charset="-122"/>
                <a:cs typeface="Inter" pitchFamily="34" charset="-120"/>
              </a:rPr>
              <a:t>Answers with citations</a:t>
            </a:r>
            <a:endParaRPr lang="en-US" sz="2000" dirty="0"/>
          </a:p>
        </p:txBody>
      </p:sp>
      <p:sp>
        <p:nvSpPr>
          <p:cNvPr id="7" name="Text 5"/>
          <p:cNvSpPr/>
          <p:nvPr/>
        </p:nvSpPr>
        <p:spPr>
          <a:xfrm>
            <a:off x="1073150" y="2716461"/>
            <a:ext cx="4800727"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343C"/>
                </a:solidFill>
                <a:latin typeface="Inter" pitchFamily="34" charset="0"/>
                <a:ea typeface="Inter" pitchFamily="34" charset="-122"/>
                <a:cs typeface="Inter" pitchFamily="34" charset="-120"/>
              </a:rPr>
              <a:t>Hybrid search finds exact terms and meaning. Questions that need medical judgment go to the Medical Monitor, not a guess.</a:t>
            </a:r>
            <a:endParaRPr lang="en-US" sz="1400" dirty="0"/>
          </a:p>
        </p:txBody>
      </p:sp>
      <p:sp>
        <p:nvSpPr>
          <p:cNvPr id="8" name="Shape 6"/>
          <p:cNvSpPr/>
          <p:nvPr/>
        </p:nvSpPr>
        <p:spPr>
          <a:xfrm>
            <a:off x="6200775" y="1852265"/>
            <a:ext cx="5175250" cy="1817241"/>
          </a:xfrm>
          <a:prstGeom prst="roundRect">
            <a:avLst>
              <a:gd name="adj" fmla="val 6814"/>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9" name="Text 7"/>
          <p:cNvSpPr/>
          <p:nvPr/>
        </p:nvSpPr>
        <p:spPr>
          <a:xfrm>
            <a:off x="6457950" y="2058640"/>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626D"/>
                </a:solidFill>
                <a:latin typeface="Inter" pitchFamily="34" charset="0"/>
                <a:ea typeface="Inter" pitchFamily="34" charset="-122"/>
                <a:cs typeface="Inter" pitchFamily="34" charset="-120"/>
              </a:rPr>
              <a:t>DATA HUB</a:t>
            </a:r>
            <a:endParaRPr lang="en-US" sz="1200" dirty="0"/>
          </a:p>
        </p:txBody>
      </p:sp>
      <p:sp>
        <p:nvSpPr>
          <p:cNvPr id="10" name="Text 8"/>
          <p:cNvSpPr/>
          <p:nvPr/>
        </p:nvSpPr>
        <p:spPr>
          <a:xfrm>
            <a:off x="6457950" y="2348161"/>
            <a:ext cx="4800727" cy="317500"/>
          </a:xfrm>
          <a:prstGeom prst="rect">
            <a:avLst/>
          </a:prstGeom>
          <a:noFill/>
          <a:ln/>
        </p:spPr>
        <p:txBody>
          <a:bodyPr wrap="square" lIns="0" tIns="0" rIns="0" bIns="0" rtlCol="0" anchor="t">
            <a:normAutofit/>
          </a:bodyPr>
          <a:lstStyle/>
          <a:p>
            <a:pPr marL="0" indent="0" algn="l">
              <a:lnSpc>
                <a:spcPts val="2300"/>
              </a:lnSpc>
              <a:buNone/>
            </a:pPr>
            <a:r>
              <a:rPr lang="en-US" sz="2000" b="1" kern="0" spc="-50" dirty="0">
                <a:solidFill>
                  <a:srgbClr val="13343C"/>
                </a:solidFill>
                <a:latin typeface="Inter" pitchFamily="34" charset="0"/>
                <a:ea typeface="Inter" pitchFamily="34" charset="-122"/>
                <a:cs typeface="Inter" pitchFamily="34" charset="-120"/>
              </a:rPr>
              <a:t>One patient, one record</a:t>
            </a:r>
            <a:endParaRPr lang="en-US" sz="2000" dirty="0"/>
          </a:p>
        </p:txBody>
      </p:sp>
      <p:sp>
        <p:nvSpPr>
          <p:cNvPr id="11" name="Text 9"/>
          <p:cNvSpPr/>
          <p:nvPr/>
        </p:nvSpPr>
        <p:spPr>
          <a:xfrm>
            <a:off x="6457950" y="2716461"/>
            <a:ext cx="4800727"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343C"/>
                </a:solidFill>
                <a:latin typeface="Inter" pitchFamily="34" charset="0"/>
                <a:ea typeface="Inter" pitchFamily="34" charset="-122"/>
                <a:cs typeface="Inter" pitchFamily="34" charset="-120"/>
              </a:rPr>
              <a:t>SUBJ-001, PT-1001 and USUBJID-901-01 resolve to the same person. 46 study tables are cataloged, and plain-English questions become read-only SQL.</a:t>
            </a:r>
            <a:endParaRPr lang="en-US" sz="1400" dirty="0"/>
          </a:p>
        </p:txBody>
      </p:sp>
      <p:sp>
        <p:nvSpPr>
          <p:cNvPr id="12" name="Shape 10"/>
          <p:cNvSpPr/>
          <p:nvPr/>
        </p:nvSpPr>
        <p:spPr>
          <a:xfrm>
            <a:off x="815975" y="3879056"/>
            <a:ext cx="5175250" cy="1817241"/>
          </a:xfrm>
          <a:prstGeom prst="roundRect">
            <a:avLst>
              <a:gd name="adj" fmla="val 6814"/>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13" name="Text 11"/>
          <p:cNvSpPr/>
          <p:nvPr/>
        </p:nvSpPr>
        <p:spPr>
          <a:xfrm>
            <a:off x="1073150" y="4085431"/>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626D"/>
                </a:solidFill>
                <a:latin typeface="Inter" pitchFamily="34" charset="0"/>
                <a:ea typeface="Inter" pitchFamily="34" charset="-122"/>
                <a:cs typeface="Inter" pitchFamily="34" charset="-120"/>
              </a:rPr>
              <a:t>SUGGESTED ACTIONS</a:t>
            </a:r>
            <a:endParaRPr lang="en-US" sz="1200" dirty="0"/>
          </a:p>
        </p:txBody>
      </p:sp>
      <p:sp>
        <p:nvSpPr>
          <p:cNvPr id="14" name="Text 12"/>
          <p:cNvSpPr/>
          <p:nvPr/>
        </p:nvSpPr>
        <p:spPr>
          <a:xfrm>
            <a:off x="1073150" y="4374952"/>
            <a:ext cx="4800727" cy="317500"/>
          </a:xfrm>
          <a:prstGeom prst="rect">
            <a:avLst/>
          </a:prstGeom>
          <a:noFill/>
          <a:ln/>
        </p:spPr>
        <p:txBody>
          <a:bodyPr wrap="square" lIns="0" tIns="0" rIns="0" bIns="0" rtlCol="0" anchor="t">
            <a:normAutofit/>
          </a:bodyPr>
          <a:lstStyle/>
          <a:p>
            <a:pPr marL="0" indent="0" algn="l">
              <a:lnSpc>
                <a:spcPts val="2300"/>
              </a:lnSpc>
              <a:buNone/>
            </a:pPr>
            <a:r>
              <a:rPr lang="en-US" sz="2000" b="1" kern="0" spc="-50" dirty="0">
                <a:solidFill>
                  <a:srgbClr val="13343C"/>
                </a:solidFill>
                <a:latin typeface="Inter" pitchFamily="34" charset="0"/>
                <a:ea typeface="Inter" pitchFamily="34" charset="-122"/>
                <a:cs typeface="Inter" pitchFamily="34" charset="-120"/>
              </a:rPr>
              <a:t>A data-manager agent</a:t>
            </a:r>
            <a:endParaRPr lang="en-US" sz="2000" dirty="0"/>
          </a:p>
        </p:txBody>
      </p:sp>
      <p:sp>
        <p:nvSpPr>
          <p:cNvPr id="15" name="Text 13"/>
          <p:cNvSpPr/>
          <p:nvPr/>
        </p:nvSpPr>
        <p:spPr>
          <a:xfrm>
            <a:off x="1073150" y="4743252"/>
            <a:ext cx="4800727"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343C"/>
                </a:solidFill>
                <a:latin typeface="Inter" pitchFamily="34" charset="0"/>
                <a:ea typeface="Inter" pitchFamily="34" charset="-122"/>
                <a:cs typeface="Inter" pitchFamily="34" charset="-120"/>
              </a:rPr>
              <a:t>Candidate actions are scored by the what-if forecast. Gemini words the rationale. A person approves every action.</a:t>
            </a:r>
            <a:endParaRPr lang="en-US" sz="1400" dirty="0"/>
          </a:p>
        </p:txBody>
      </p:sp>
      <p:sp>
        <p:nvSpPr>
          <p:cNvPr id="16" name="Shape 14"/>
          <p:cNvSpPr/>
          <p:nvPr/>
        </p:nvSpPr>
        <p:spPr>
          <a:xfrm>
            <a:off x="6200775" y="3879056"/>
            <a:ext cx="5175250" cy="1817241"/>
          </a:xfrm>
          <a:prstGeom prst="roundRect">
            <a:avLst>
              <a:gd name="adj" fmla="val 6814"/>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17" name="Text 15"/>
          <p:cNvSpPr/>
          <p:nvPr/>
        </p:nvSpPr>
        <p:spPr>
          <a:xfrm>
            <a:off x="6457950" y="4085431"/>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626D"/>
                </a:solidFill>
                <a:latin typeface="Inter" pitchFamily="34" charset="0"/>
                <a:ea typeface="Inter" pitchFamily="34" charset="-122"/>
                <a:cs typeface="Inter" pitchFamily="34" charset="-120"/>
              </a:rPr>
              <a:t>ACCURACY TESTS</a:t>
            </a:r>
            <a:endParaRPr lang="en-US" sz="1200" dirty="0"/>
          </a:p>
        </p:txBody>
      </p:sp>
      <p:sp>
        <p:nvSpPr>
          <p:cNvPr id="18" name="Text 16"/>
          <p:cNvSpPr/>
          <p:nvPr/>
        </p:nvSpPr>
        <p:spPr>
          <a:xfrm>
            <a:off x="6457950" y="4374952"/>
            <a:ext cx="4800727" cy="317500"/>
          </a:xfrm>
          <a:prstGeom prst="rect">
            <a:avLst/>
          </a:prstGeom>
          <a:noFill/>
          <a:ln/>
        </p:spPr>
        <p:txBody>
          <a:bodyPr wrap="square" lIns="0" tIns="0" rIns="0" bIns="0" rtlCol="0" anchor="t">
            <a:normAutofit/>
          </a:bodyPr>
          <a:lstStyle/>
          <a:p>
            <a:pPr marL="0" indent="0" algn="l">
              <a:lnSpc>
                <a:spcPts val="2300"/>
              </a:lnSpc>
              <a:buNone/>
            </a:pPr>
            <a:r>
              <a:rPr lang="en-US" sz="2000" b="1" kern="0" spc="-50" dirty="0">
                <a:solidFill>
                  <a:srgbClr val="13343C"/>
                </a:solidFill>
                <a:latin typeface="Inter" pitchFamily="34" charset="0"/>
                <a:ea typeface="Inter" pitchFamily="34" charset="-122"/>
                <a:cs typeface="Inter" pitchFamily="34" charset="-120"/>
              </a:rPr>
              <a:t>Scored on a hidden key</a:t>
            </a:r>
            <a:endParaRPr lang="en-US" sz="2000" dirty="0"/>
          </a:p>
        </p:txBody>
      </p:sp>
      <p:sp>
        <p:nvSpPr>
          <p:cNvPr id="19" name="Text 17"/>
          <p:cNvSpPr/>
          <p:nvPr/>
        </p:nvSpPr>
        <p:spPr>
          <a:xfrm>
            <a:off x="6457950" y="4743252"/>
            <a:ext cx="480072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343C"/>
                </a:solidFill>
                <a:latin typeface="Inter" pitchFamily="34" charset="0"/>
                <a:ea typeface="Inter" pitchFamily="34" charset="-122"/>
                <a:cs typeface="Inter" pitchFamily="34" charset="-120"/>
              </a:rPr>
              <a:t>238 planted anomalies. The detection code cannot read the answer key.</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Paritty · Protocol Q&amp;A, data hub, agent and evaluation harness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343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EEAD4"/>
                </a:solidFill>
                <a:latin typeface="Inter" pitchFamily="34" charset="0"/>
                <a:ea typeface="Inter" pitchFamily="34" charset="-122"/>
                <a:cs typeface="Inter" pitchFamily="34" charset="-120"/>
              </a:rPr>
              <a:t>BEST USE OF GEMINI</a:t>
            </a:r>
            <a:endParaRPr lang="en-US" sz="1300" dirty="0"/>
          </a:p>
        </p:txBody>
      </p:sp>
      <p:sp>
        <p:nvSpPr>
          <p:cNvPr id="3" name="Text 1"/>
          <p:cNvSpPr>
            <a:spLocks noGrp="1"/>
          </p:cNvSpPr>
          <p:nvPr>
            <p:ph type="title"/>
          </p:nvPr>
        </p:nvSpPr>
        <p:spPr>
          <a:xfrm>
            <a:off x="812800" y="1031230"/>
            <a:ext cx="10883392" cy="458440"/>
          </a:xfrm>
          <a:prstGeom prst="rect">
            <a:avLst/>
          </a:prstGeom>
          <a:noFill/>
          <a:ln/>
        </p:spPr>
        <p:txBody>
          <a:bodyPr wrap="square" lIns="0" tIns="0" rIns="0" bIns="0" rtlCol="0" anchor="t">
            <a:normAutofit/>
          </a:bodyPr>
          <a:lstStyle/>
          <a:p>
            <a:pPr marL="0" indent="0" algn="l">
              <a:lnSpc>
                <a:spcPts val="3410"/>
              </a:lnSpc>
              <a:buNone/>
            </a:pPr>
            <a:r>
              <a:rPr lang="en-US" sz="3100" b="1" i="0" kern="0" spc="-100" dirty="0">
                <a:solidFill>
                  <a:srgbClr val="F3FAFB"/>
                </a:solidFill>
                <a:latin typeface="Inter" pitchFamily="34" charset="0"/>
                <a:ea typeface="Inter" pitchFamily="34" charset="-122"/>
                <a:cs typeface="Inter" pitchFamily="34" charset="-120"/>
              </a:rPr>
              <a:t>Gemini drafts. Code verifies. People approve.</a:t>
            </a:r>
            <a:endParaRPr lang="en-US" sz="3100" dirty="0"/>
          </a:p>
        </p:txBody>
      </p:sp>
      <p:sp>
        <p:nvSpPr>
          <p:cNvPr id="4" name="Shape 2"/>
          <p:cNvSpPr/>
          <p:nvPr/>
        </p:nvSpPr>
        <p:spPr>
          <a:xfrm>
            <a:off x="815975" y="1645245"/>
            <a:ext cx="2559050" cy="966391"/>
          </a:xfrm>
          <a:prstGeom prst="roundRect">
            <a:avLst>
              <a:gd name="adj" fmla="val 11499"/>
            </a:avLst>
          </a:prstGeom>
          <a:solidFill>
            <a:srgbClr val="1D444E"/>
          </a:solidFill>
          <a:ln w="6350">
            <a:solidFill>
              <a:srgbClr val="2F5D69"/>
            </a:solidFill>
            <a:prstDash val="solid"/>
          </a:ln>
        </p:spPr>
        <p:txBody>
          <a:bodyPr/>
          <a:lstStyle/>
          <a:p>
            <a:endParaRPr lang="en-US"/>
          </a:p>
        </p:txBody>
      </p:sp>
      <p:sp>
        <p:nvSpPr>
          <p:cNvPr id="5" name="Text 3"/>
          <p:cNvSpPr/>
          <p:nvPr/>
        </p:nvSpPr>
        <p:spPr>
          <a:xfrm>
            <a:off x="984250" y="1788120"/>
            <a:ext cx="2289175" cy="25906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F3FAFB"/>
                </a:solidFill>
                <a:latin typeface="Inter" pitchFamily="34" charset="0"/>
                <a:ea typeface="Inter" pitchFamily="34" charset="-122"/>
                <a:cs typeface="Inter" pitchFamily="34" charset="-120"/>
              </a:rPr>
              <a:t>Deterministic checks</a:t>
            </a:r>
            <a:endParaRPr lang="en-US" sz="1600" dirty="0"/>
          </a:p>
        </p:txBody>
      </p:sp>
      <p:sp>
        <p:nvSpPr>
          <p:cNvPr id="6" name="Text 4"/>
          <p:cNvSpPr/>
          <p:nvPr/>
        </p:nvSpPr>
        <p:spPr>
          <a:xfrm>
            <a:off x="984250" y="2072580"/>
            <a:ext cx="2289175"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9D3D9"/>
                </a:solidFill>
                <a:latin typeface="Inter" pitchFamily="34" charset="0"/>
                <a:ea typeface="Inter" pitchFamily="34" charset="-122"/>
                <a:cs typeface="Inter" pitchFamily="34" charset="-120"/>
              </a:rPr>
              <a:t>find the issue, no AI involved</a:t>
            </a:r>
            <a:endParaRPr lang="en-US" sz="1200" dirty="0"/>
          </a:p>
        </p:txBody>
      </p:sp>
      <p:sp>
        <p:nvSpPr>
          <p:cNvPr id="7" name="Shape 5"/>
          <p:cNvSpPr/>
          <p:nvPr/>
        </p:nvSpPr>
        <p:spPr>
          <a:xfrm>
            <a:off x="3482975" y="1645245"/>
            <a:ext cx="2559050" cy="966391"/>
          </a:xfrm>
          <a:prstGeom prst="roundRect">
            <a:avLst>
              <a:gd name="adj" fmla="val 11499"/>
            </a:avLst>
          </a:prstGeom>
          <a:solidFill>
            <a:srgbClr val="0E7490"/>
          </a:solidFill>
          <a:ln w="6350">
            <a:solidFill>
              <a:srgbClr val="0E7490"/>
            </a:solidFill>
            <a:prstDash val="solid"/>
          </a:ln>
        </p:spPr>
        <p:txBody>
          <a:bodyPr/>
          <a:lstStyle/>
          <a:p>
            <a:endParaRPr lang="en-US"/>
          </a:p>
        </p:txBody>
      </p:sp>
      <p:sp>
        <p:nvSpPr>
          <p:cNvPr id="8" name="Text 6"/>
          <p:cNvSpPr/>
          <p:nvPr/>
        </p:nvSpPr>
        <p:spPr>
          <a:xfrm>
            <a:off x="3651250" y="1788120"/>
            <a:ext cx="2289175" cy="25906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F3FAFB"/>
                </a:solidFill>
                <a:latin typeface="Inter" pitchFamily="34" charset="0"/>
                <a:ea typeface="Inter" pitchFamily="34" charset="-122"/>
                <a:cs typeface="Inter" pitchFamily="34" charset="-120"/>
              </a:rPr>
              <a:t>Gemini drafts</a:t>
            </a:r>
            <a:endParaRPr lang="en-US" sz="1600" dirty="0"/>
          </a:p>
        </p:txBody>
      </p:sp>
      <p:sp>
        <p:nvSpPr>
          <p:cNvPr id="9" name="Text 7"/>
          <p:cNvSpPr/>
          <p:nvPr/>
        </p:nvSpPr>
        <p:spPr>
          <a:xfrm>
            <a:off x="3651250" y="2072580"/>
            <a:ext cx="2289175"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FFFFF"/>
                </a:solidFill>
                <a:latin typeface="Inter" pitchFamily="34" charset="0"/>
                <a:ea typeface="Inter" pitchFamily="34" charset="-122"/>
                <a:cs typeface="Inter" pitchFamily="34" charset="-120"/>
              </a:rPr>
              <a:t>the query, translation or note</a:t>
            </a:r>
            <a:endParaRPr lang="en-US" sz="1200" dirty="0"/>
          </a:p>
        </p:txBody>
      </p:sp>
      <p:sp>
        <p:nvSpPr>
          <p:cNvPr id="10" name="Shape 8"/>
          <p:cNvSpPr/>
          <p:nvPr/>
        </p:nvSpPr>
        <p:spPr>
          <a:xfrm>
            <a:off x="6149975" y="1645245"/>
            <a:ext cx="2559050" cy="966391"/>
          </a:xfrm>
          <a:prstGeom prst="roundRect">
            <a:avLst>
              <a:gd name="adj" fmla="val 11499"/>
            </a:avLst>
          </a:prstGeom>
          <a:solidFill>
            <a:srgbClr val="1D444E"/>
          </a:solidFill>
          <a:ln w="6350">
            <a:solidFill>
              <a:srgbClr val="2F5D69"/>
            </a:solidFill>
            <a:prstDash val="solid"/>
          </a:ln>
        </p:spPr>
        <p:txBody>
          <a:bodyPr/>
          <a:lstStyle/>
          <a:p>
            <a:endParaRPr lang="en-US"/>
          </a:p>
        </p:txBody>
      </p:sp>
      <p:sp>
        <p:nvSpPr>
          <p:cNvPr id="11" name="Text 9"/>
          <p:cNvSpPr/>
          <p:nvPr/>
        </p:nvSpPr>
        <p:spPr>
          <a:xfrm>
            <a:off x="6318250" y="1788120"/>
            <a:ext cx="2289175" cy="25906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F3FAFB"/>
                </a:solidFill>
                <a:latin typeface="Inter" pitchFamily="34" charset="0"/>
                <a:ea typeface="Inter" pitchFamily="34" charset="-122"/>
                <a:cs typeface="Inter" pitchFamily="34" charset="-120"/>
              </a:rPr>
              <a:t>Code verifies</a:t>
            </a:r>
            <a:endParaRPr lang="en-US" sz="1600" dirty="0"/>
          </a:p>
        </p:txBody>
      </p:sp>
      <p:sp>
        <p:nvSpPr>
          <p:cNvPr id="12" name="Text 10"/>
          <p:cNvSpPr/>
          <p:nvPr/>
        </p:nvSpPr>
        <p:spPr>
          <a:xfrm>
            <a:off x="6318250" y="2072580"/>
            <a:ext cx="2289175"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9D3D9"/>
                </a:solidFill>
                <a:latin typeface="Inter" pitchFamily="34" charset="0"/>
                <a:ea typeface="Inter" pitchFamily="34" charset="-122"/>
                <a:cs typeface="Inter" pitchFamily="34" charset="-120"/>
              </a:rPr>
              <a:t>every quote and row ID is checked</a:t>
            </a:r>
            <a:endParaRPr lang="en-US" sz="1200" dirty="0"/>
          </a:p>
        </p:txBody>
      </p:sp>
      <p:sp>
        <p:nvSpPr>
          <p:cNvPr id="13" name="Shape 11"/>
          <p:cNvSpPr/>
          <p:nvPr/>
        </p:nvSpPr>
        <p:spPr>
          <a:xfrm>
            <a:off x="8816975" y="1645245"/>
            <a:ext cx="2559050" cy="966391"/>
          </a:xfrm>
          <a:prstGeom prst="roundRect">
            <a:avLst>
              <a:gd name="adj" fmla="val 11499"/>
            </a:avLst>
          </a:prstGeom>
          <a:solidFill>
            <a:srgbClr val="1D444E"/>
          </a:solidFill>
          <a:ln w="6350">
            <a:solidFill>
              <a:srgbClr val="2F5D69"/>
            </a:solidFill>
            <a:prstDash val="solid"/>
          </a:ln>
        </p:spPr>
        <p:txBody>
          <a:bodyPr/>
          <a:lstStyle/>
          <a:p>
            <a:endParaRPr lang="en-US"/>
          </a:p>
        </p:txBody>
      </p:sp>
      <p:sp>
        <p:nvSpPr>
          <p:cNvPr id="14" name="Text 12"/>
          <p:cNvSpPr/>
          <p:nvPr/>
        </p:nvSpPr>
        <p:spPr>
          <a:xfrm>
            <a:off x="8985250" y="1788120"/>
            <a:ext cx="2289175" cy="25906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F3FAFB"/>
                </a:solidFill>
                <a:latin typeface="Inter" pitchFamily="34" charset="0"/>
                <a:ea typeface="Inter" pitchFamily="34" charset="-122"/>
                <a:cs typeface="Inter" pitchFamily="34" charset="-120"/>
              </a:rPr>
              <a:t>A person approves</a:t>
            </a:r>
            <a:endParaRPr lang="en-US" sz="1600" dirty="0"/>
          </a:p>
        </p:txBody>
      </p:sp>
      <p:sp>
        <p:nvSpPr>
          <p:cNvPr id="15" name="Text 13"/>
          <p:cNvSpPr/>
          <p:nvPr/>
        </p:nvSpPr>
        <p:spPr>
          <a:xfrm>
            <a:off x="8985250" y="2072580"/>
            <a:ext cx="2289175"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9D3D9"/>
                </a:solidFill>
                <a:latin typeface="Inter" pitchFamily="34" charset="0"/>
                <a:ea typeface="Inter" pitchFamily="34" charset="-122"/>
                <a:cs typeface="Inter" pitchFamily="34" charset="-120"/>
              </a:rPr>
              <a:t>before anything is sent</a:t>
            </a:r>
            <a:endParaRPr lang="en-US" sz="1200" dirty="0"/>
          </a:p>
        </p:txBody>
      </p:sp>
      <p:sp>
        <p:nvSpPr>
          <p:cNvPr id="16" name="Text 14"/>
          <p:cNvSpPr/>
          <p:nvPr/>
        </p:nvSpPr>
        <p:spPr>
          <a:xfrm>
            <a:off x="812800" y="2792611"/>
            <a:ext cx="609574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EEAD4"/>
                </a:solidFill>
                <a:latin typeface="Inter" pitchFamily="34" charset="0"/>
                <a:ea typeface="Inter" pitchFamily="34" charset="-122"/>
                <a:cs typeface="Inter" pitchFamily="34" charset="-120"/>
              </a:rPr>
              <a:t>WHERE GEMINI WORKS</a:t>
            </a:r>
            <a:endParaRPr lang="en-US" sz="1200" dirty="0"/>
          </a:p>
        </p:txBody>
      </p:sp>
      <p:sp>
        <p:nvSpPr>
          <p:cNvPr id="17" name="Text 15"/>
          <p:cNvSpPr/>
          <p:nvPr/>
        </p:nvSpPr>
        <p:spPr>
          <a:xfrm>
            <a:off x="812800" y="3082131"/>
            <a:ext cx="609574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AFB"/>
                </a:solidFill>
                <a:latin typeface="Inter" pitchFamily="34" charset="0"/>
                <a:ea typeface="Inter" pitchFamily="34" charset="-122"/>
                <a:cs typeface="Inter" pitchFamily="34" charset="-120"/>
              </a:rPr>
              <a:t>Drafts queries and translates them for sites</a:t>
            </a:r>
            <a:endParaRPr lang="en-US" sz="1400" dirty="0"/>
          </a:p>
        </p:txBody>
      </p:sp>
      <p:sp>
        <p:nvSpPr>
          <p:cNvPr id="18" name="Text 16"/>
          <p:cNvSpPr/>
          <p:nvPr/>
        </p:nvSpPr>
        <p:spPr>
          <a:xfrm>
            <a:off x="812800" y="3389461"/>
            <a:ext cx="609574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AFB"/>
                </a:solidFill>
                <a:latin typeface="Inter" pitchFamily="34" charset="0"/>
                <a:ea typeface="Inter" pitchFamily="34" charset="-122"/>
                <a:cs typeface="Inter" pitchFamily="34" charset="-120"/>
              </a:rPr>
              <a:t>Judges borderline term matches</a:t>
            </a:r>
            <a:endParaRPr lang="en-US" sz="1400" dirty="0"/>
          </a:p>
        </p:txBody>
      </p:sp>
      <p:sp>
        <p:nvSpPr>
          <p:cNvPr id="19" name="Text 17"/>
          <p:cNvSpPr/>
          <p:nvPr/>
        </p:nvSpPr>
        <p:spPr>
          <a:xfrm>
            <a:off x="812800" y="3696791"/>
            <a:ext cx="609574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AFB"/>
                </a:solidFill>
                <a:latin typeface="Inter" pitchFamily="34" charset="0"/>
                <a:ea typeface="Inter" pitchFamily="34" charset="-122"/>
                <a:cs typeface="Inter" pitchFamily="34" charset="-120"/>
              </a:rPr>
              <a:t>Answers protocol questions with exact quotes</a:t>
            </a:r>
            <a:endParaRPr lang="en-US" sz="1400" dirty="0"/>
          </a:p>
        </p:txBody>
      </p:sp>
      <p:sp>
        <p:nvSpPr>
          <p:cNvPr id="20" name="Text 18"/>
          <p:cNvSpPr/>
          <p:nvPr/>
        </p:nvSpPr>
        <p:spPr>
          <a:xfrm>
            <a:off x="812800" y="4004121"/>
            <a:ext cx="609574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AFB"/>
                </a:solidFill>
                <a:latin typeface="Inter" pitchFamily="34" charset="0"/>
                <a:ea typeface="Inter" pitchFamily="34" charset="-122"/>
                <a:cs typeface="Inter" pitchFamily="34" charset="-120"/>
              </a:rPr>
              <a:t>Assesses causality with cited evidence</a:t>
            </a:r>
            <a:endParaRPr lang="en-US" sz="1400" dirty="0"/>
          </a:p>
        </p:txBody>
      </p:sp>
      <p:sp>
        <p:nvSpPr>
          <p:cNvPr id="21" name="Text 19"/>
          <p:cNvSpPr/>
          <p:nvPr/>
        </p:nvSpPr>
        <p:spPr>
          <a:xfrm>
            <a:off x="812800" y="4311452"/>
            <a:ext cx="609574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AFB"/>
                </a:solidFill>
                <a:latin typeface="Inter" pitchFamily="34" charset="0"/>
                <a:ea typeface="Inter" pitchFamily="34" charset="-122"/>
                <a:cs typeface="Inter" pitchFamily="34" charset="-120"/>
              </a:rPr>
              <a:t>Turns plain-English questions into read-only SQL</a:t>
            </a:r>
            <a:endParaRPr lang="en-US" sz="1400" dirty="0"/>
          </a:p>
        </p:txBody>
      </p:sp>
      <p:sp>
        <p:nvSpPr>
          <p:cNvPr id="22" name="Text 20"/>
          <p:cNvSpPr/>
          <p:nvPr/>
        </p:nvSpPr>
        <p:spPr>
          <a:xfrm>
            <a:off x="812800" y="4618782"/>
            <a:ext cx="609574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AFB"/>
                </a:solidFill>
                <a:latin typeface="Inter" pitchFamily="34" charset="0"/>
                <a:ea typeface="Inter" pitchFamily="34" charset="-122"/>
                <a:cs typeface="Inter" pitchFamily="34" charset="-120"/>
              </a:rPr>
              <a:t>Embeds text for semantic search</a:t>
            </a:r>
            <a:endParaRPr lang="en-US" sz="1400" dirty="0"/>
          </a:p>
        </p:txBody>
      </p:sp>
      <p:sp>
        <p:nvSpPr>
          <p:cNvPr id="23" name="Shape 21"/>
          <p:cNvSpPr/>
          <p:nvPr/>
        </p:nvSpPr>
        <p:spPr>
          <a:xfrm>
            <a:off x="6937375" y="2795786"/>
            <a:ext cx="4438650" cy="2284611"/>
          </a:xfrm>
          <a:prstGeom prst="roundRect">
            <a:avLst>
              <a:gd name="adj" fmla="val 4864"/>
            </a:avLst>
          </a:prstGeom>
          <a:solidFill>
            <a:srgbClr val="1D444E"/>
          </a:solidFill>
          <a:ln w="6350">
            <a:solidFill>
              <a:srgbClr val="2F5D69"/>
            </a:solidFill>
            <a:prstDash val="solid"/>
          </a:ln>
        </p:spPr>
        <p:txBody>
          <a:bodyPr/>
          <a:lstStyle/>
          <a:p>
            <a:endParaRPr lang="en-US"/>
          </a:p>
        </p:txBody>
      </p:sp>
      <p:sp>
        <p:nvSpPr>
          <p:cNvPr id="24" name="Text 22"/>
          <p:cNvSpPr/>
          <p:nvPr/>
        </p:nvSpPr>
        <p:spPr>
          <a:xfrm>
            <a:off x="7156450" y="2976761"/>
            <a:ext cx="412051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EEAD4"/>
                </a:solidFill>
                <a:latin typeface="Inter" pitchFamily="34" charset="0"/>
                <a:ea typeface="Inter" pitchFamily="34" charset="-122"/>
                <a:cs typeface="Inter" pitchFamily="34" charset="-120"/>
              </a:rPr>
              <a:t>WHY IT IS SAFE</a:t>
            </a:r>
            <a:endParaRPr lang="en-US" sz="1200" dirty="0"/>
          </a:p>
        </p:txBody>
      </p:sp>
      <p:sp>
        <p:nvSpPr>
          <p:cNvPr id="25" name="Text 23"/>
          <p:cNvSpPr/>
          <p:nvPr/>
        </p:nvSpPr>
        <p:spPr>
          <a:xfrm>
            <a:off x="7156450" y="3278981"/>
            <a:ext cx="4120515"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AFB"/>
                </a:solidFill>
                <a:latin typeface="Inter" pitchFamily="34" charset="0"/>
                <a:ea typeface="Inter" pitchFamily="34" charset="-122"/>
                <a:cs typeface="Inter" pitchFamily="34" charset="-120"/>
              </a:rPr>
              <a:t>Never sees the treatment arm.</a:t>
            </a:r>
            <a:endParaRPr lang="en-US" sz="1400" dirty="0"/>
          </a:p>
        </p:txBody>
      </p:sp>
      <p:sp>
        <p:nvSpPr>
          <p:cNvPr id="26" name="Text 24"/>
          <p:cNvSpPr/>
          <p:nvPr/>
        </p:nvSpPr>
        <p:spPr>
          <a:xfrm>
            <a:off x="7156450" y="3599011"/>
            <a:ext cx="4120515"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AFB"/>
                </a:solidFill>
                <a:latin typeface="Inter" pitchFamily="34" charset="0"/>
                <a:ea typeface="Inter" pitchFamily="34" charset="-122"/>
                <a:cs typeface="Inter" pitchFamily="34" charset="-120"/>
              </a:rPr>
              <a:t>Never writes executable logic.</a:t>
            </a:r>
            <a:endParaRPr lang="en-US" sz="1400" dirty="0"/>
          </a:p>
        </p:txBody>
      </p:sp>
      <p:sp>
        <p:nvSpPr>
          <p:cNvPr id="27" name="Text 25"/>
          <p:cNvSpPr/>
          <p:nvPr/>
        </p:nvSpPr>
        <p:spPr>
          <a:xfrm>
            <a:off x="7156450" y="3919041"/>
            <a:ext cx="4120515"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AFB"/>
                </a:solidFill>
                <a:latin typeface="Inter" pitchFamily="34" charset="0"/>
                <a:ea typeface="Inter" pitchFamily="34" charset="-122"/>
                <a:cs typeface="Inter" pitchFamily="34" charset="-120"/>
              </a:rPr>
              <a:t>Every claim cites table, key and column. A claim that fails verification is blocked.</a:t>
            </a:r>
            <a:endParaRPr lang="en-US" sz="1400" dirty="0"/>
          </a:p>
        </p:txBody>
      </p:sp>
      <p:sp>
        <p:nvSpPr>
          <p:cNvPr id="28" name="Text 26"/>
          <p:cNvSpPr/>
          <p:nvPr/>
        </p:nvSpPr>
        <p:spPr>
          <a:xfrm>
            <a:off x="7156450" y="4470202"/>
            <a:ext cx="4120515"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9D3D9"/>
                </a:solidFill>
                <a:latin typeface="Inter" pitchFamily="34" charset="0"/>
                <a:ea typeface="Inter" pitchFamily="34" charset="-122"/>
                <a:cs typeface="Inter" pitchFamily="34" charset="-120"/>
              </a:rPr>
              <a:t>Without Gemini, templates keep every workflow running.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343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EEAD4"/>
                </a:solidFill>
                <a:latin typeface="Inter" pitchFamily="34" charset="0"/>
                <a:ea typeface="Inter" pitchFamily="34" charset="-122"/>
                <a:cs typeface="Inter" pitchFamily="34" charset="-120"/>
              </a:rPr>
              <a:t>BEST USE OF TIGER DATA</a:t>
            </a:r>
            <a:endParaRPr lang="en-US" sz="1300" dirty="0"/>
          </a:p>
        </p:txBody>
      </p:sp>
      <p:sp>
        <p:nvSpPr>
          <p:cNvPr id="3" name="Text 1"/>
          <p:cNvSpPr>
            <a:spLocks noGrp="1"/>
          </p:cNvSpPr>
          <p:nvPr>
            <p:ph type="title"/>
          </p:nvPr>
        </p:nvSpPr>
        <p:spPr>
          <a:xfrm>
            <a:off x="812800" y="103123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kern="0" spc="-100" dirty="0">
                <a:solidFill>
                  <a:srgbClr val="F3FAFB"/>
                </a:solidFill>
                <a:latin typeface="Inter" pitchFamily="34" charset="0"/>
                <a:ea typeface="Inter" pitchFamily="34" charset="-122"/>
                <a:cs typeface="Inter" pitchFamily="34" charset="-120"/>
              </a:rPr>
              <a:t>One Postgres for the whole trial.</a:t>
            </a:r>
            <a:endParaRPr lang="en-US" sz="3200" dirty="0"/>
          </a:p>
        </p:txBody>
      </p:sp>
      <p:sp>
        <p:nvSpPr>
          <p:cNvPr id="4" name="Shape 2"/>
          <p:cNvSpPr/>
          <p:nvPr/>
        </p:nvSpPr>
        <p:spPr>
          <a:xfrm>
            <a:off x="815975" y="1684635"/>
            <a:ext cx="5175250" cy="2783681"/>
          </a:xfrm>
          <a:prstGeom prst="roundRect">
            <a:avLst>
              <a:gd name="adj" fmla="val 3992"/>
            </a:avLst>
          </a:prstGeom>
          <a:solidFill>
            <a:srgbClr val="1D444E"/>
          </a:solidFill>
          <a:ln w="6350">
            <a:solidFill>
              <a:srgbClr val="2F5D69"/>
            </a:solidFill>
            <a:prstDash val="solid"/>
          </a:ln>
        </p:spPr>
        <p:txBody>
          <a:bodyPr/>
          <a:lstStyle/>
          <a:p>
            <a:endParaRPr lang="en-US"/>
          </a:p>
        </p:txBody>
      </p:sp>
      <p:sp>
        <p:nvSpPr>
          <p:cNvPr id="5" name="Text 3"/>
          <p:cNvSpPr/>
          <p:nvPr/>
        </p:nvSpPr>
        <p:spPr>
          <a:xfrm>
            <a:off x="1047750" y="1878310"/>
            <a:ext cx="485305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EEAD4"/>
                </a:solidFill>
                <a:latin typeface="Inter" pitchFamily="34" charset="0"/>
                <a:ea typeface="Inter" pitchFamily="34" charset="-122"/>
                <a:cs typeface="Inter" pitchFamily="34" charset="-120"/>
              </a:rPr>
              <a:t>TIGER POSTGRES, ONE SERVICE</a:t>
            </a:r>
            <a:endParaRPr lang="en-US" sz="1200" dirty="0"/>
          </a:p>
        </p:txBody>
      </p:sp>
      <p:sp>
        <p:nvSpPr>
          <p:cNvPr id="6" name="Text 4"/>
          <p:cNvSpPr/>
          <p:nvPr/>
        </p:nvSpPr>
        <p:spPr>
          <a:xfrm>
            <a:off x="1047750" y="2270720"/>
            <a:ext cx="1587500" cy="340320"/>
          </a:xfrm>
          <a:custGeom>
            <a:avLst/>
            <a:gdLst/>
            <a:ahLst/>
            <a:cxnLst/>
            <a:rect l="l" t="t" r="r" b="b"/>
            <a:pathLst>
              <a:path w="1587500" h="340320">
                <a:moveTo>
                  <a:pt x="170160" y="0"/>
                </a:moveTo>
                <a:lnTo>
                  <a:pt x="1417340" y="0"/>
                </a:lnTo>
                <a:arcTo wR="170160" hR="170160" stAng="16200000" swAng="5400000"/>
                <a:lnTo>
                  <a:pt x="1587500" y="170160"/>
                </a:lnTo>
                <a:arcTo wR="170160" hR="170160" stAng="0" swAng="5400000"/>
                <a:lnTo>
                  <a:pt x="170160" y="340320"/>
                </a:lnTo>
                <a:arcTo wR="170160" hR="170160" stAng="5400000" swAng="5400000"/>
                <a:lnTo>
                  <a:pt x="0" y="170160"/>
                </a:lnTo>
                <a:arcTo wR="170160" hR="170160" stAng="10800000" swAng="5400000"/>
                <a:close/>
              </a:path>
            </a:pathLst>
          </a:custGeom>
          <a:solidFill>
            <a:srgbClr val="0E7490"/>
          </a:solidFill>
          <a:ln/>
        </p:spPr>
        <p:txBody>
          <a:bodyPr wrap="square" lIns="0" tIns="63500" rIns="0" bIns="38100" rtlCol="0" anchor="t">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TimescaleDB</a:t>
            </a:r>
            <a:endParaRPr lang="en-US" sz="1200" dirty="0"/>
          </a:p>
        </p:txBody>
      </p:sp>
      <p:sp>
        <p:nvSpPr>
          <p:cNvPr id="7" name="Text 5"/>
          <p:cNvSpPr/>
          <p:nvPr/>
        </p:nvSpPr>
        <p:spPr>
          <a:xfrm>
            <a:off x="2762250" y="2218630"/>
            <a:ext cx="3087116"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F3FAFB"/>
                </a:solidFill>
                <a:latin typeface="Inter" pitchFamily="34" charset="0"/>
                <a:ea typeface="Inter" pitchFamily="34" charset="-122"/>
                <a:cs typeface="Inter" pitchFamily="34" charset="-120"/>
              </a:rPr>
              <a:t>Hypertables for visits and labs over time</a:t>
            </a:r>
            <a:endParaRPr lang="en-US" sz="1400" dirty="0"/>
          </a:p>
        </p:txBody>
      </p:sp>
      <p:sp>
        <p:nvSpPr>
          <p:cNvPr id="8" name="Text 6"/>
          <p:cNvSpPr/>
          <p:nvPr/>
        </p:nvSpPr>
        <p:spPr>
          <a:xfrm>
            <a:off x="1047750" y="2790130"/>
            <a:ext cx="1587500" cy="340320"/>
          </a:xfrm>
          <a:custGeom>
            <a:avLst/>
            <a:gdLst/>
            <a:ahLst/>
            <a:cxnLst/>
            <a:rect l="l" t="t" r="r" b="b"/>
            <a:pathLst>
              <a:path w="1587500" h="340320">
                <a:moveTo>
                  <a:pt x="170160" y="0"/>
                </a:moveTo>
                <a:lnTo>
                  <a:pt x="1417340" y="0"/>
                </a:lnTo>
                <a:arcTo wR="170160" hR="170160" stAng="16200000" swAng="5400000"/>
                <a:lnTo>
                  <a:pt x="1587500" y="170160"/>
                </a:lnTo>
                <a:arcTo wR="170160" hR="170160" stAng="0" swAng="5400000"/>
                <a:lnTo>
                  <a:pt x="170160" y="340320"/>
                </a:lnTo>
                <a:arcTo wR="170160" hR="170160" stAng="5400000" swAng="5400000"/>
                <a:lnTo>
                  <a:pt x="0" y="170160"/>
                </a:lnTo>
                <a:arcTo wR="170160" hR="170160" stAng="10800000" swAng="5400000"/>
                <a:close/>
              </a:path>
            </a:pathLst>
          </a:custGeom>
          <a:solidFill>
            <a:srgbClr val="0E7490"/>
          </a:solidFill>
          <a:ln/>
        </p:spPr>
        <p:txBody>
          <a:bodyPr wrap="square" lIns="0" tIns="63500" rIns="0" bIns="38100" rtlCol="0" anchor="t">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pgvectorscale</a:t>
            </a:r>
            <a:endParaRPr lang="en-US" sz="1200" dirty="0"/>
          </a:p>
        </p:txBody>
      </p:sp>
      <p:sp>
        <p:nvSpPr>
          <p:cNvPr id="9" name="Text 7"/>
          <p:cNvSpPr/>
          <p:nvPr/>
        </p:nvSpPr>
        <p:spPr>
          <a:xfrm>
            <a:off x="2762250" y="2849166"/>
            <a:ext cx="3087116" cy="24765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F3FAFB"/>
                </a:solidFill>
                <a:latin typeface="Inter" pitchFamily="34" charset="0"/>
                <a:ea typeface="Inter" pitchFamily="34" charset="-122"/>
                <a:cs typeface="Inter" pitchFamily="34" charset="-120"/>
              </a:rPr>
              <a:t>Embeddings for semantic search</a:t>
            </a:r>
            <a:endParaRPr lang="en-US" sz="1400" dirty="0"/>
          </a:p>
        </p:txBody>
      </p:sp>
      <p:sp>
        <p:nvSpPr>
          <p:cNvPr id="10" name="Text 8"/>
          <p:cNvSpPr/>
          <p:nvPr/>
        </p:nvSpPr>
        <p:spPr>
          <a:xfrm>
            <a:off x="1047750" y="3309541"/>
            <a:ext cx="1587500" cy="340320"/>
          </a:xfrm>
          <a:custGeom>
            <a:avLst/>
            <a:gdLst/>
            <a:ahLst/>
            <a:cxnLst/>
            <a:rect l="l" t="t" r="r" b="b"/>
            <a:pathLst>
              <a:path w="1587500" h="340320">
                <a:moveTo>
                  <a:pt x="170160" y="0"/>
                </a:moveTo>
                <a:lnTo>
                  <a:pt x="1417340" y="0"/>
                </a:lnTo>
                <a:arcTo wR="170160" hR="170160" stAng="16200000" swAng="5400000"/>
                <a:lnTo>
                  <a:pt x="1587500" y="170160"/>
                </a:lnTo>
                <a:arcTo wR="170160" hR="170160" stAng="0" swAng="5400000"/>
                <a:lnTo>
                  <a:pt x="170160" y="340320"/>
                </a:lnTo>
                <a:arcTo wR="170160" hR="170160" stAng="5400000" swAng="5400000"/>
                <a:lnTo>
                  <a:pt x="0" y="170160"/>
                </a:lnTo>
                <a:arcTo wR="170160" hR="170160" stAng="10800000" swAng="5400000"/>
                <a:close/>
              </a:path>
            </a:pathLst>
          </a:custGeom>
          <a:solidFill>
            <a:srgbClr val="0E7490"/>
          </a:solidFill>
          <a:ln/>
        </p:spPr>
        <p:txBody>
          <a:bodyPr wrap="square" lIns="0" tIns="63500" rIns="0" bIns="38100" rtlCol="0" anchor="t">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pg_textsearch</a:t>
            </a:r>
            <a:endParaRPr lang="en-US" sz="1200" dirty="0"/>
          </a:p>
        </p:txBody>
      </p:sp>
      <p:sp>
        <p:nvSpPr>
          <p:cNvPr id="11" name="Text 9"/>
          <p:cNvSpPr/>
          <p:nvPr/>
        </p:nvSpPr>
        <p:spPr>
          <a:xfrm>
            <a:off x="2762250" y="3257451"/>
            <a:ext cx="3087116"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F3FAFB"/>
                </a:solidFill>
                <a:latin typeface="Inter" pitchFamily="34" charset="0"/>
                <a:ea typeface="Inter" pitchFamily="34" charset="-122"/>
                <a:cs typeface="Inter" pitchFamily="34" charset="-120"/>
              </a:rPr>
              <a:t>BM25 for exact drug names and lab limits</a:t>
            </a:r>
            <a:endParaRPr lang="en-US" sz="1400" dirty="0"/>
          </a:p>
        </p:txBody>
      </p:sp>
      <p:sp>
        <p:nvSpPr>
          <p:cNvPr id="12" name="Text 10"/>
          <p:cNvSpPr/>
          <p:nvPr/>
        </p:nvSpPr>
        <p:spPr>
          <a:xfrm>
            <a:off x="1047750" y="3828951"/>
            <a:ext cx="4853051"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D3D9"/>
                </a:solidFill>
                <a:latin typeface="Inter" pitchFamily="34" charset="0"/>
                <a:ea typeface="Inter" pitchFamily="34" charset="-122"/>
                <a:cs typeface="Inter" pitchFamily="34" charset="-120"/>
              </a:rPr>
              <a:t>Hybrid search merges both result lists, so one query finds meaning and exact terms.</a:t>
            </a:r>
            <a:endParaRPr lang="en-US" sz="1300" dirty="0"/>
          </a:p>
        </p:txBody>
      </p:sp>
      <p:sp>
        <p:nvSpPr>
          <p:cNvPr id="13" name="Shape 11"/>
          <p:cNvSpPr/>
          <p:nvPr/>
        </p:nvSpPr>
        <p:spPr>
          <a:xfrm>
            <a:off x="6200775" y="1684635"/>
            <a:ext cx="5175250" cy="2783681"/>
          </a:xfrm>
          <a:prstGeom prst="roundRect">
            <a:avLst>
              <a:gd name="adj" fmla="val 3992"/>
            </a:avLst>
          </a:prstGeom>
          <a:solidFill>
            <a:srgbClr val="1D444E"/>
          </a:solidFill>
          <a:ln w="6350">
            <a:solidFill>
              <a:srgbClr val="2F5D69"/>
            </a:solidFill>
            <a:prstDash val="solid"/>
          </a:ln>
        </p:spPr>
        <p:txBody>
          <a:bodyPr/>
          <a:lstStyle/>
          <a:p>
            <a:endParaRPr lang="en-US"/>
          </a:p>
        </p:txBody>
      </p:sp>
      <p:sp>
        <p:nvSpPr>
          <p:cNvPr id="14" name="Text 12"/>
          <p:cNvSpPr/>
          <p:nvPr/>
        </p:nvSpPr>
        <p:spPr>
          <a:xfrm>
            <a:off x="6432550" y="1878310"/>
            <a:ext cx="485305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EEAD4"/>
                </a:solidFill>
                <a:latin typeface="Inter" pitchFamily="34" charset="0"/>
                <a:ea typeface="Inter" pitchFamily="34" charset="-122"/>
                <a:cs typeface="Inter" pitchFamily="34" charset="-120"/>
              </a:rPr>
              <a:t>FORK THE TRIAL, NOT PRODUCTION</a:t>
            </a:r>
            <a:endParaRPr lang="en-US" sz="1200" dirty="0"/>
          </a:p>
        </p:txBody>
      </p:sp>
      <p:sp>
        <p:nvSpPr>
          <p:cNvPr id="15" name="Text 13"/>
          <p:cNvSpPr/>
          <p:nvPr/>
        </p:nvSpPr>
        <p:spPr>
          <a:xfrm>
            <a:off x="6432550" y="2218630"/>
            <a:ext cx="48530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3FAFB"/>
                </a:solidFill>
                <a:latin typeface="Inter" pitchFamily="34" charset="0"/>
                <a:ea typeface="Inter" pitchFamily="34" charset="-122"/>
                <a:cs typeface="Inter" pitchFamily="34" charset="-120"/>
              </a:rPr>
              <a:t>1 · Fork the Tiger service</a:t>
            </a:r>
            <a:endParaRPr lang="en-US" sz="1500" dirty="0"/>
          </a:p>
        </p:txBody>
      </p:sp>
      <p:sp>
        <p:nvSpPr>
          <p:cNvPr id="16" name="Text 14"/>
          <p:cNvSpPr/>
          <p:nvPr/>
        </p:nvSpPr>
        <p:spPr>
          <a:xfrm>
            <a:off x="6432550" y="2583755"/>
            <a:ext cx="48530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3FAFB"/>
                </a:solidFill>
                <a:latin typeface="Inter" pitchFamily="34" charset="0"/>
                <a:ea typeface="Inter" pitchFamily="34" charset="-122"/>
                <a:cs typeface="Inter" pitchFamily="34" charset="-120"/>
              </a:rPr>
              <a:t>2 · Simulate weeks of trial days</a:t>
            </a:r>
            <a:endParaRPr lang="en-US" sz="1500" dirty="0"/>
          </a:p>
        </p:txBody>
      </p:sp>
      <p:sp>
        <p:nvSpPr>
          <p:cNvPr id="17" name="Text 15"/>
          <p:cNvSpPr/>
          <p:nvPr/>
        </p:nvSpPr>
        <p:spPr>
          <a:xfrm>
            <a:off x="6432550" y="2948880"/>
            <a:ext cx="48530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3FAFB"/>
                </a:solidFill>
                <a:latin typeface="Inter" pitchFamily="34" charset="0"/>
                <a:ea typeface="Inter" pitchFamily="34" charset="-122"/>
                <a:cs typeface="Inter" pitchFamily="34" charset="-120"/>
              </a:rPr>
              <a:t>3 · Score against the answer key</a:t>
            </a:r>
            <a:endParaRPr lang="en-US" sz="1500" dirty="0"/>
          </a:p>
        </p:txBody>
      </p:sp>
      <p:sp>
        <p:nvSpPr>
          <p:cNvPr id="18" name="Text 16"/>
          <p:cNvSpPr/>
          <p:nvPr/>
        </p:nvSpPr>
        <p:spPr>
          <a:xfrm>
            <a:off x="6432550" y="3314005"/>
            <a:ext cx="48530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3FAFB"/>
                </a:solidFill>
                <a:latin typeface="Inter" pitchFamily="34" charset="0"/>
                <a:ea typeface="Inter" pitchFamily="34" charset="-122"/>
                <a:cs typeface="Inter" pitchFamily="34" charset="-120"/>
              </a:rPr>
              <a:t>4 · Delete the fork</a:t>
            </a:r>
            <a:endParaRPr lang="en-US" sz="1500" dirty="0"/>
          </a:p>
        </p:txBody>
      </p:sp>
      <p:sp>
        <p:nvSpPr>
          <p:cNvPr id="19" name="Text 17"/>
          <p:cNvSpPr/>
          <p:nvPr/>
        </p:nvSpPr>
        <p:spPr>
          <a:xfrm>
            <a:off x="6432550" y="3679130"/>
            <a:ext cx="4853051"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D3D9"/>
                </a:solidFill>
                <a:latin typeface="Inter" pitchFamily="34" charset="0"/>
                <a:ea typeface="Inter" pitchFamily="34" charset="-122"/>
                <a:cs typeface="Inter" pitchFamily="34" charset="-120"/>
              </a:rPr>
              <a:t>A fork is a whole new service, so evaluations never touch the demo data.</a:t>
            </a:r>
            <a:endParaRPr lang="en-US" sz="1300" dirty="0"/>
          </a:p>
        </p:txBody>
      </p:sp>
      <p:sp>
        <p:nvSpPr>
          <p:cNvPr id="20" name="Shape 18"/>
          <p:cNvSpPr/>
          <p:nvPr/>
        </p:nvSpPr>
        <p:spPr>
          <a:xfrm>
            <a:off x="812800" y="4674691"/>
            <a:ext cx="3420517" cy="1087041"/>
          </a:xfrm>
          <a:prstGeom prst="roundRect">
            <a:avLst>
              <a:gd name="adj" fmla="val 10515"/>
            </a:avLst>
          </a:prstGeom>
          <a:solidFill>
            <a:srgbClr val="0E7490"/>
          </a:solidFill>
          <a:ln/>
        </p:spPr>
        <p:txBody>
          <a:bodyPr/>
          <a:lstStyle/>
          <a:p>
            <a:endParaRPr lang="en-US"/>
          </a:p>
        </p:txBody>
      </p:sp>
      <p:sp>
        <p:nvSpPr>
          <p:cNvPr id="21" name="Text 19"/>
          <p:cNvSpPr/>
          <p:nvPr/>
        </p:nvSpPr>
        <p:spPr>
          <a:xfrm>
            <a:off x="1003300" y="4814391"/>
            <a:ext cx="3130702" cy="398760"/>
          </a:xfrm>
          <a:prstGeom prst="rect">
            <a:avLst/>
          </a:prstGeom>
          <a:noFill/>
          <a:ln/>
        </p:spPr>
        <p:txBody>
          <a:bodyPr wrap="square" lIns="0" tIns="0" rIns="0" bIns="0" rtlCol="0" anchor="t">
            <a:normAutofit/>
          </a:bodyPr>
          <a:lstStyle/>
          <a:p>
            <a:pPr marL="0" indent="0" algn="l">
              <a:lnSpc>
                <a:spcPts val="2940"/>
              </a:lnSpc>
              <a:buNone/>
            </a:pPr>
            <a:r>
              <a:rPr lang="en-US" sz="2800" b="1" kern="0" spc="-100" dirty="0">
                <a:solidFill>
                  <a:srgbClr val="F3FAFB"/>
                </a:solidFill>
                <a:latin typeface="Inter" pitchFamily="34" charset="0"/>
                <a:ea typeface="Inter" pitchFamily="34" charset="-122"/>
                <a:cs typeface="Inter" pitchFamily="34" charset="-120"/>
              </a:rPr>
              <a:t>46</a:t>
            </a:r>
            <a:endParaRPr lang="en-US" sz="2800" dirty="0"/>
          </a:p>
        </p:txBody>
      </p:sp>
      <p:sp>
        <p:nvSpPr>
          <p:cNvPr id="22" name="Text 20"/>
          <p:cNvSpPr/>
          <p:nvPr/>
        </p:nvSpPr>
        <p:spPr>
          <a:xfrm>
            <a:off x="1003300" y="5225852"/>
            <a:ext cx="3130702"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FFFFF"/>
                </a:solidFill>
                <a:latin typeface="Inter" pitchFamily="34" charset="0"/>
                <a:ea typeface="Inter" pitchFamily="34" charset="-122"/>
                <a:cs typeface="Inter" pitchFamily="34" charset="-120"/>
              </a:rPr>
              <a:t>study tables cataloged in the data hub</a:t>
            </a:r>
            <a:endParaRPr lang="en-US" sz="1200" dirty="0"/>
          </a:p>
        </p:txBody>
      </p:sp>
      <p:sp>
        <p:nvSpPr>
          <p:cNvPr id="23" name="Shape 21"/>
          <p:cNvSpPr/>
          <p:nvPr/>
        </p:nvSpPr>
        <p:spPr>
          <a:xfrm>
            <a:off x="4385717" y="4674691"/>
            <a:ext cx="3420566" cy="1087041"/>
          </a:xfrm>
          <a:prstGeom prst="roundRect">
            <a:avLst>
              <a:gd name="adj" fmla="val 10515"/>
            </a:avLst>
          </a:prstGeom>
          <a:solidFill>
            <a:srgbClr val="0E7490"/>
          </a:solidFill>
          <a:ln/>
        </p:spPr>
        <p:txBody>
          <a:bodyPr/>
          <a:lstStyle/>
          <a:p>
            <a:endParaRPr lang="en-US"/>
          </a:p>
        </p:txBody>
      </p:sp>
      <p:sp>
        <p:nvSpPr>
          <p:cNvPr id="24" name="Text 22"/>
          <p:cNvSpPr/>
          <p:nvPr/>
        </p:nvSpPr>
        <p:spPr>
          <a:xfrm>
            <a:off x="4576217" y="4814391"/>
            <a:ext cx="3130753" cy="398760"/>
          </a:xfrm>
          <a:prstGeom prst="rect">
            <a:avLst/>
          </a:prstGeom>
          <a:noFill/>
          <a:ln/>
        </p:spPr>
        <p:txBody>
          <a:bodyPr wrap="square" lIns="0" tIns="0" rIns="0" bIns="0" rtlCol="0" anchor="t">
            <a:normAutofit/>
          </a:bodyPr>
          <a:lstStyle/>
          <a:p>
            <a:pPr marL="0" indent="0" algn="l">
              <a:lnSpc>
                <a:spcPts val="2940"/>
              </a:lnSpc>
              <a:buNone/>
            </a:pPr>
            <a:r>
              <a:rPr lang="en-US" sz="2800" b="1" kern="0" spc="-100" dirty="0">
                <a:solidFill>
                  <a:srgbClr val="F3FAFB"/>
                </a:solidFill>
                <a:latin typeface="Inter" pitchFamily="34" charset="0"/>
                <a:ea typeface="Inter" pitchFamily="34" charset="-122"/>
                <a:cs typeface="Inter" pitchFamily="34" charset="-120"/>
              </a:rPr>
              <a:t>238</a:t>
            </a:r>
            <a:endParaRPr lang="en-US" sz="2800" dirty="0"/>
          </a:p>
        </p:txBody>
      </p:sp>
      <p:sp>
        <p:nvSpPr>
          <p:cNvPr id="25" name="Text 23"/>
          <p:cNvSpPr/>
          <p:nvPr/>
        </p:nvSpPr>
        <p:spPr>
          <a:xfrm>
            <a:off x="4576217" y="5225852"/>
            <a:ext cx="3130753"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FFFFF"/>
                </a:solidFill>
                <a:latin typeface="Inter" pitchFamily="34" charset="0"/>
                <a:ea typeface="Inter" pitchFamily="34" charset="-122"/>
                <a:cs typeface="Inter" pitchFamily="34" charset="-120"/>
              </a:rPr>
              <a:t>planted anomalies scored on forks</a:t>
            </a:r>
            <a:endParaRPr lang="en-US" sz="1200" dirty="0"/>
          </a:p>
        </p:txBody>
      </p:sp>
      <p:sp>
        <p:nvSpPr>
          <p:cNvPr id="26" name="Shape 24"/>
          <p:cNvSpPr/>
          <p:nvPr/>
        </p:nvSpPr>
        <p:spPr>
          <a:xfrm>
            <a:off x="7958683" y="4674691"/>
            <a:ext cx="3420517" cy="1087041"/>
          </a:xfrm>
          <a:prstGeom prst="roundRect">
            <a:avLst>
              <a:gd name="adj" fmla="val 10515"/>
            </a:avLst>
          </a:prstGeom>
          <a:solidFill>
            <a:srgbClr val="0E7490"/>
          </a:solidFill>
          <a:ln/>
        </p:spPr>
        <p:txBody>
          <a:bodyPr/>
          <a:lstStyle/>
          <a:p>
            <a:endParaRPr lang="en-US"/>
          </a:p>
        </p:txBody>
      </p:sp>
      <p:sp>
        <p:nvSpPr>
          <p:cNvPr id="27" name="Text 25"/>
          <p:cNvSpPr/>
          <p:nvPr/>
        </p:nvSpPr>
        <p:spPr>
          <a:xfrm>
            <a:off x="8149183" y="4814391"/>
            <a:ext cx="3130702" cy="398760"/>
          </a:xfrm>
          <a:prstGeom prst="rect">
            <a:avLst/>
          </a:prstGeom>
          <a:noFill/>
          <a:ln/>
        </p:spPr>
        <p:txBody>
          <a:bodyPr wrap="square" lIns="0" tIns="0" rIns="0" bIns="0" rtlCol="0" anchor="t">
            <a:normAutofit/>
          </a:bodyPr>
          <a:lstStyle/>
          <a:p>
            <a:pPr marL="0" indent="0" algn="l">
              <a:lnSpc>
                <a:spcPts val="2940"/>
              </a:lnSpc>
              <a:buNone/>
            </a:pPr>
            <a:r>
              <a:rPr lang="en-US" sz="2800" b="1" kern="0" spc="-100" dirty="0">
                <a:solidFill>
                  <a:srgbClr val="F3FAFB"/>
                </a:solidFill>
                <a:latin typeface="Inter" pitchFamily="34" charset="0"/>
                <a:ea typeface="Inter" pitchFamily="34" charset="-122"/>
                <a:cs typeface="Inter" pitchFamily="34" charset="-120"/>
              </a:rPr>
              <a:t>2</a:t>
            </a:r>
            <a:endParaRPr lang="en-US" sz="2800" dirty="0"/>
          </a:p>
        </p:txBody>
      </p:sp>
      <p:sp>
        <p:nvSpPr>
          <p:cNvPr id="28" name="Text 26"/>
          <p:cNvSpPr/>
          <p:nvPr/>
        </p:nvSpPr>
        <p:spPr>
          <a:xfrm>
            <a:off x="8149183" y="5225852"/>
            <a:ext cx="313070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FFFFF"/>
                </a:solidFill>
                <a:latin typeface="Inter" pitchFamily="34" charset="0"/>
                <a:ea typeface="Inter" pitchFamily="34" charset="-122"/>
                <a:cs typeface="Inter" pitchFamily="34" charset="-120"/>
              </a:rPr>
              <a:t>targets, one schema: Tiger Cloud and local Docker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A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0E7490"/>
                </a:solidFill>
                <a:latin typeface="Inter" pitchFamily="34" charset="0"/>
                <a:ea typeface="Inter" pitchFamily="34" charset="-122"/>
                <a:cs typeface="Inter" pitchFamily="34" charset="-120"/>
              </a:rPr>
              <a:t>GUARDRAILS</a:t>
            </a:r>
            <a:endParaRPr lang="en-US" sz="1300" dirty="0"/>
          </a:p>
        </p:txBody>
      </p:sp>
      <p:sp>
        <p:nvSpPr>
          <p:cNvPr id="3" name="Text 1"/>
          <p:cNvSpPr>
            <a:spLocks noGrp="1"/>
          </p:cNvSpPr>
          <p:nvPr>
            <p:ph type="title"/>
          </p:nvPr>
        </p:nvSpPr>
        <p:spPr>
          <a:xfrm>
            <a:off x="812800" y="114553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kern="0" spc="-100" dirty="0">
                <a:solidFill>
                  <a:srgbClr val="13343C"/>
                </a:solidFill>
                <a:latin typeface="Inter" pitchFamily="34" charset="0"/>
                <a:ea typeface="Inter" pitchFamily="34" charset="-122"/>
                <a:cs typeface="Inter" pitchFamily="34" charset="-120"/>
              </a:rPr>
              <a:t>Five rules that never bend.</a:t>
            </a:r>
            <a:endParaRPr lang="en-US" sz="3400" dirty="0"/>
          </a:p>
        </p:txBody>
      </p:sp>
      <p:sp>
        <p:nvSpPr>
          <p:cNvPr id="4" name="Shape 2"/>
          <p:cNvSpPr/>
          <p:nvPr/>
        </p:nvSpPr>
        <p:spPr>
          <a:xfrm>
            <a:off x="815975" y="1852265"/>
            <a:ext cx="6750050" cy="590550"/>
          </a:xfrm>
          <a:prstGeom prst="roundRect">
            <a:avLst>
              <a:gd name="adj" fmla="val 18817"/>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5" name="Text 3"/>
          <p:cNvSpPr/>
          <p:nvPr/>
        </p:nvSpPr>
        <p:spPr>
          <a:xfrm>
            <a:off x="996950" y="1969740"/>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E7490"/>
                </a:solidFill>
                <a:latin typeface="Inter" pitchFamily="34" charset="0"/>
                <a:ea typeface="Inter" pitchFamily="34" charset="-122"/>
                <a:cs typeface="Inter" pitchFamily="34" charset="-120"/>
              </a:rPr>
              <a:t>1</a:t>
            </a:r>
            <a:endParaRPr lang="en-US" sz="2000" dirty="0"/>
          </a:p>
        </p:txBody>
      </p:sp>
      <p:sp>
        <p:nvSpPr>
          <p:cNvPr id="6" name="Text 4"/>
          <p:cNvSpPr/>
          <p:nvPr/>
        </p:nvSpPr>
        <p:spPr>
          <a:xfrm>
            <a:off x="1504950" y="2028478"/>
            <a:ext cx="605650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343C"/>
                </a:solidFill>
                <a:latin typeface="Inter" pitchFamily="34" charset="0"/>
                <a:ea typeface="Inter" pitchFamily="34" charset="-122"/>
                <a:cs typeface="Inter" pitchFamily="34" charset="-120"/>
              </a:rPr>
              <a:t>A human approves every query, letter and agenda.</a:t>
            </a:r>
            <a:endParaRPr lang="en-US" sz="1500" dirty="0"/>
          </a:p>
        </p:txBody>
      </p:sp>
      <p:sp>
        <p:nvSpPr>
          <p:cNvPr id="7" name="Shape 5"/>
          <p:cNvSpPr/>
          <p:nvPr/>
        </p:nvSpPr>
        <p:spPr>
          <a:xfrm>
            <a:off x="815975" y="2538065"/>
            <a:ext cx="6750050" cy="590550"/>
          </a:xfrm>
          <a:prstGeom prst="roundRect">
            <a:avLst>
              <a:gd name="adj" fmla="val 18817"/>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8" name="Text 6"/>
          <p:cNvSpPr/>
          <p:nvPr/>
        </p:nvSpPr>
        <p:spPr>
          <a:xfrm>
            <a:off x="996950" y="2655540"/>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E7490"/>
                </a:solidFill>
                <a:latin typeface="Inter" pitchFamily="34" charset="0"/>
                <a:ea typeface="Inter" pitchFamily="34" charset="-122"/>
                <a:cs typeface="Inter" pitchFamily="34" charset="-120"/>
              </a:rPr>
              <a:t>2</a:t>
            </a:r>
            <a:endParaRPr lang="en-US" sz="2000" dirty="0"/>
          </a:p>
        </p:txBody>
      </p:sp>
      <p:sp>
        <p:nvSpPr>
          <p:cNvPr id="9" name="Text 7"/>
          <p:cNvSpPr/>
          <p:nvPr/>
        </p:nvSpPr>
        <p:spPr>
          <a:xfrm>
            <a:off x="1504950" y="2714278"/>
            <a:ext cx="605650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343C"/>
                </a:solidFill>
                <a:latin typeface="Inter" pitchFamily="34" charset="0"/>
                <a:ea typeface="Inter" pitchFamily="34" charset="-122"/>
                <a:cs typeface="Inter" pitchFamily="34" charset="-120"/>
              </a:rPr>
              <a:t>The treatment arm stays blinded. Unblinded access is logged.</a:t>
            </a:r>
            <a:endParaRPr lang="en-US" sz="1500" dirty="0"/>
          </a:p>
        </p:txBody>
      </p:sp>
      <p:sp>
        <p:nvSpPr>
          <p:cNvPr id="10" name="Shape 8"/>
          <p:cNvSpPr/>
          <p:nvPr/>
        </p:nvSpPr>
        <p:spPr>
          <a:xfrm>
            <a:off x="815975" y="3223865"/>
            <a:ext cx="6750050" cy="590550"/>
          </a:xfrm>
          <a:prstGeom prst="roundRect">
            <a:avLst>
              <a:gd name="adj" fmla="val 18817"/>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11" name="Text 9"/>
          <p:cNvSpPr/>
          <p:nvPr/>
        </p:nvSpPr>
        <p:spPr>
          <a:xfrm>
            <a:off x="996950" y="3341340"/>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E7490"/>
                </a:solidFill>
                <a:latin typeface="Inter" pitchFamily="34" charset="0"/>
                <a:ea typeface="Inter" pitchFamily="34" charset="-122"/>
                <a:cs typeface="Inter" pitchFamily="34" charset="-120"/>
              </a:rPr>
              <a:t>3</a:t>
            </a:r>
            <a:endParaRPr lang="en-US" sz="2000" dirty="0"/>
          </a:p>
        </p:txBody>
      </p:sp>
      <p:sp>
        <p:nvSpPr>
          <p:cNvPr id="12" name="Text 10"/>
          <p:cNvSpPr/>
          <p:nvPr/>
        </p:nvSpPr>
        <p:spPr>
          <a:xfrm>
            <a:off x="1504950" y="3400078"/>
            <a:ext cx="605650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343C"/>
                </a:solidFill>
                <a:latin typeface="Inter" pitchFamily="34" charset="0"/>
                <a:ea typeface="Inter" pitchFamily="34" charset="-122"/>
                <a:cs typeface="Inter" pitchFamily="34" charset="-120"/>
              </a:rPr>
              <a:t>Every Gemini claim carries citations and is verified.</a:t>
            </a:r>
            <a:endParaRPr lang="en-US" sz="1500" dirty="0"/>
          </a:p>
        </p:txBody>
      </p:sp>
      <p:sp>
        <p:nvSpPr>
          <p:cNvPr id="13" name="Shape 11"/>
          <p:cNvSpPr/>
          <p:nvPr/>
        </p:nvSpPr>
        <p:spPr>
          <a:xfrm>
            <a:off x="815975" y="3909665"/>
            <a:ext cx="6750050" cy="590550"/>
          </a:xfrm>
          <a:prstGeom prst="roundRect">
            <a:avLst>
              <a:gd name="adj" fmla="val 18817"/>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14" name="Text 12"/>
          <p:cNvSpPr/>
          <p:nvPr/>
        </p:nvSpPr>
        <p:spPr>
          <a:xfrm>
            <a:off x="996950" y="4027140"/>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E7490"/>
                </a:solidFill>
                <a:latin typeface="Inter" pitchFamily="34" charset="0"/>
                <a:ea typeface="Inter" pitchFamily="34" charset="-122"/>
                <a:cs typeface="Inter" pitchFamily="34" charset="-120"/>
              </a:rPr>
              <a:t>4</a:t>
            </a:r>
            <a:endParaRPr lang="en-US" sz="2000" dirty="0"/>
          </a:p>
        </p:txBody>
      </p:sp>
      <p:sp>
        <p:nvSpPr>
          <p:cNvPr id="15" name="Text 13"/>
          <p:cNvSpPr/>
          <p:nvPr/>
        </p:nvSpPr>
        <p:spPr>
          <a:xfrm>
            <a:off x="1504950" y="4085878"/>
            <a:ext cx="605650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343C"/>
                </a:solidFill>
                <a:latin typeface="Inter" pitchFamily="34" charset="0"/>
                <a:ea typeface="Inter" pitchFamily="34" charset="-122"/>
                <a:cs typeface="Inter" pitchFamily="34" charset="-120"/>
              </a:rPr>
              <a:t>Neutral wording: "potential discrepancy", "reason to look".</a:t>
            </a:r>
            <a:endParaRPr lang="en-US" sz="1500" dirty="0"/>
          </a:p>
        </p:txBody>
      </p:sp>
      <p:sp>
        <p:nvSpPr>
          <p:cNvPr id="16" name="Shape 14"/>
          <p:cNvSpPr/>
          <p:nvPr/>
        </p:nvSpPr>
        <p:spPr>
          <a:xfrm>
            <a:off x="815975" y="4595465"/>
            <a:ext cx="6750050" cy="590550"/>
          </a:xfrm>
          <a:prstGeom prst="roundRect">
            <a:avLst>
              <a:gd name="adj" fmla="val 18817"/>
            </a:avLst>
          </a:prstGeom>
          <a:solidFill>
            <a:srgbClr val="FFFFFF"/>
          </a:solidFill>
          <a:ln w="6350">
            <a:solidFill>
              <a:srgbClr val="D5E9EC"/>
            </a:solidFill>
            <a:prstDash val="solid"/>
          </a:ln>
          <a:effectLst>
            <a:outerShdw blurRad="38100" dist="12700" dir="5400000" algn="bl" rotWithShape="0">
              <a:srgbClr val="0F172A">
                <a:alpha val="7000"/>
              </a:srgbClr>
            </a:outerShdw>
          </a:effectLst>
        </p:spPr>
        <p:txBody>
          <a:bodyPr/>
          <a:lstStyle/>
          <a:p>
            <a:endParaRPr lang="en-US"/>
          </a:p>
        </p:txBody>
      </p:sp>
      <p:sp>
        <p:nvSpPr>
          <p:cNvPr id="17" name="Text 15"/>
          <p:cNvSpPr/>
          <p:nvPr/>
        </p:nvSpPr>
        <p:spPr>
          <a:xfrm>
            <a:off x="996950" y="4712940"/>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E7490"/>
                </a:solidFill>
                <a:latin typeface="Inter" pitchFamily="34" charset="0"/>
                <a:ea typeface="Inter" pitchFamily="34" charset="-122"/>
                <a:cs typeface="Inter" pitchFamily="34" charset="-120"/>
              </a:rPr>
              <a:t>5</a:t>
            </a:r>
            <a:endParaRPr lang="en-US" sz="2000" dirty="0"/>
          </a:p>
        </p:txBody>
      </p:sp>
      <p:sp>
        <p:nvSpPr>
          <p:cNvPr id="18" name="Text 16"/>
          <p:cNvSpPr/>
          <p:nvPr/>
        </p:nvSpPr>
        <p:spPr>
          <a:xfrm>
            <a:off x="1504950" y="4771678"/>
            <a:ext cx="605650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343C"/>
                </a:solidFill>
                <a:latin typeface="Inter" pitchFamily="34" charset="0"/>
                <a:ea typeface="Inter" pitchFamily="34" charset="-122"/>
                <a:cs typeface="Inter" pitchFamily="34" charset="-120"/>
              </a:rPr>
              <a:t>Every state change writes to the audit log.</a:t>
            </a:r>
            <a:endParaRPr lang="en-US" sz="1500" dirty="0"/>
          </a:p>
        </p:txBody>
      </p:sp>
      <p:sp>
        <p:nvSpPr>
          <p:cNvPr id="19" name="Shape 17"/>
          <p:cNvSpPr/>
          <p:nvPr/>
        </p:nvSpPr>
        <p:spPr>
          <a:xfrm>
            <a:off x="7823200" y="1849090"/>
            <a:ext cx="3556000" cy="3340100"/>
          </a:xfrm>
          <a:prstGeom prst="roundRect">
            <a:avLst>
              <a:gd name="adj" fmla="val 3802"/>
            </a:avLst>
          </a:prstGeom>
          <a:solidFill>
            <a:srgbClr val="13343C"/>
          </a:solidFill>
          <a:ln/>
        </p:spPr>
        <p:txBody>
          <a:bodyPr/>
          <a:lstStyle/>
          <a:p>
            <a:endParaRPr lang="en-US"/>
          </a:p>
        </p:txBody>
      </p:sp>
      <p:sp>
        <p:nvSpPr>
          <p:cNvPr id="20" name="Text 18"/>
          <p:cNvSpPr/>
          <p:nvPr/>
        </p:nvSpPr>
        <p:spPr>
          <a:xfrm>
            <a:off x="8077200" y="2317105"/>
            <a:ext cx="3139440" cy="584200"/>
          </a:xfrm>
          <a:prstGeom prst="rect">
            <a:avLst/>
          </a:prstGeom>
          <a:noFill/>
          <a:ln/>
        </p:spPr>
        <p:txBody>
          <a:bodyPr wrap="square" lIns="0" tIns="0" rIns="0" bIns="0" rtlCol="0" anchor="t">
            <a:normAutofit/>
          </a:bodyPr>
          <a:lstStyle/>
          <a:p>
            <a:pPr marL="0" indent="0" algn="l">
              <a:lnSpc>
                <a:spcPts val="4400"/>
              </a:lnSpc>
              <a:buNone/>
            </a:pPr>
            <a:r>
              <a:rPr lang="en-US" sz="4400" b="1" kern="0" spc="-150" dirty="0">
                <a:solidFill>
                  <a:srgbClr val="F3FAFB"/>
                </a:solidFill>
                <a:latin typeface="Inter" pitchFamily="34" charset="0"/>
                <a:ea typeface="Inter" pitchFamily="34" charset="-122"/>
                <a:cs typeface="Inter" pitchFamily="34" charset="-120"/>
              </a:rPr>
              <a:t>Paritty</a:t>
            </a:r>
            <a:endParaRPr lang="en-US" sz="4400" dirty="0"/>
          </a:p>
        </p:txBody>
      </p:sp>
      <p:sp>
        <p:nvSpPr>
          <p:cNvPr id="21" name="Text 19"/>
          <p:cNvSpPr/>
          <p:nvPr/>
        </p:nvSpPr>
        <p:spPr>
          <a:xfrm>
            <a:off x="8077200" y="3002905"/>
            <a:ext cx="313944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9D3D9"/>
                </a:solidFill>
                <a:latin typeface="Inter" pitchFamily="34" charset="0"/>
                <a:ea typeface="Inter" pitchFamily="34" charset="-122"/>
                <a:cs typeface="Inter" pitchFamily="34" charset="-120"/>
              </a:rPr>
              <a:t>Continuous clean-to-lock copilot for clinical trials</a:t>
            </a:r>
            <a:endParaRPr lang="en-US" sz="1400" dirty="0"/>
          </a:p>
        </p:txBody>
      </p:sp>
      <p:pic>
        <p:nvPicPr>
          <p:cNvPr id="22" name="Image 0" descr="line"/>
          <p:cNvPicPr>
            <a:picLocks noChangeAspect="1"/>
          </p:cNvPicPr>
          <p:nvPr/>
        </p:nvPicPr>
        <p:blipFill>
          <a:blip r:embed="rId3"/>
          <a:srcRect/>
          <a:stretch/>
        </p:blipFill>
        <p:spPr>
          <a:xfrm>
            <a:off x="8077200" y="3592165"/>
            <a:ext cx="3048000" cy="6350"/>
          </a:xfrm>
          <a:prstGeom prst="rect">
            <a:avLst/>
          </a:prstGeom>
        </p:spPr>
      </p:pic>
      <p:sp>
        <p:nvSpPr>
          <p:cNvPr id="23" name="Text 20"/>
          <p:cNvSpPr/>
          <p:nvPr/>
        </p:nvSpPr>
        <p:spPr>
          <a:xfrm>
            <a:off x="8077200" y="3725515"/>
            <a:ext cx="313944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AFB"/>
                </a:solidFill>
                <a:latin typeface="Inter" pitchFamily="34" charset="0"/>
                <a:ea typeface="Inter" pitchFamily="34" charset="-122"/>
                <a:cs typeface="Inter" pitchFamily="34" charset="-120"/>
              </a:rPr>
              <a:t>Watch the 4-minute walkthrough</a:t>
            </a:r>
            <a:endParaRPr lang="en-US" sz="1500" dirty="0"/>
          </a:p>
        </p:txBody>
      </p:sp>
      <p:sp>
        <p:nvSpPr>
          <p:cNvPr id="24" name="Text 21"/>
          <p:cNvSpPr/>
          <p:nvPr/>
        </p:nvSpPr>
        <p:spPr>
          <a:xfrm>
            <a:off x="8077200" y="4309715"/>
            <a:ext cx="3139440" cy="436860"/>
          </a:xfrm>
          <a:prstGeom prst="rect">
            <a:avLst/>
          </a:prstGeom>
          <a:noFill/>
          <a:ln/>
        </p:spPr>
        <p:txBody>
          <a:bodyPr wrap="square" lIns="0" tIns="0" rIns="0" bIns="0" rtlCol="0" anchor="t">
            <a:normAutofit/>
          </a:bodyPr>
          <a:lstStyle/>
          <a:p>
            <a:pPr marL="0" indent="0" algn="l">
              <a:lnSpc>
                <a:spcPts val="1620"/>
              </a:lnSpc>
              <a:buNone/>
            </a:pPr>
            <a:r>
              <a:rPr lang="en-US" sz="1200" u="sng" dirty="0">
                <a:solidFill>
                  <a:srgbClr val="5EEAD4"/>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github.com/moh0405/paritty</a:t>
            </a:r>
            <a:r>
              <a:rPr lang="en-US" sz="1200" dirty="0">
                <a:solidFill>
                  <a:srgbClr val="5EEAD4"/>
                </a:solidFill>
                <a:latin typeface="Inter" pitchFamily="34" charset="0"/>
                <a:ea typeface="Inter" pitchFamily="34" charset="-122"/>
                <a:cs typeface="Inter" pitchFamily="34" charset="-120"/>
              </a:rPr>
              <a:t>, </a:t>
            </a:r>
            <a:r>
              <a:rPr lang="en-US" sz="1200" dirty="0" err="1">
                <a:solidFill>
                  <a:srgbClr val="5EEAD4"/>
                </a:solidFill>
                <a:latin typeface="Inter" pitchFamily="34" charset="0"/>
                <a:ea typeface="Inter" pitchFamily="34" charset="-122"/>
                <a:cs typeface="Inter" pitchFamily="34" charset="-120"/>
              </a:rPr>
              <a:t>walkthrough_video</a:t>
            </a:r>
            <a:endParaRPr lang="en-US" sz="1200" dirty="0"/>
          </a:p>
        </p:txBody>
      </p:sp>
      <p:sp>
        <p:nvSpPr>
          <p:cNvPr id="25" name="Text 2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6D"/>
                </a:solidFill>
                <a:latin typeface="Inter" pitchFamily="34" charset="0"/>
                <a:ea typeface="Inter" pitchFamily="34" charset="-122"/>
                <a:cs typeface="Inter" pitchFamily="34" charset="-120"/>
              </a:rPr>
              <a:t>Built with Gemini and Tiger Data for HackRU 2026</a:t>
            </a:r>
            <a:endParaRPr lang="en-US" sz="1200" dirty="0"/>
          </a:p>
        </p:txBody>
      </p:sp>
    </p:spTree>
  </p:cSld>
  <p:clrMapOvr>
    <a:masterClrMapping/>
  </p:clrMapOvr>
</p:sld>
</file>

<file path=ppt/theme/theme1.xml><?xml version="1.0" encoding="utf-8"?>
<a:theme xmlns:a="http://schemas.openxmlformats.org/drawingml/2006/main" name="Paritty Pitch Deck">
  <a:themeElements>
    <a:clrScheme name="Paritty Pitch Deck">
      <a:dk1>
        <a:srgbClr val="13343C"/>
      </a:dk1>
      <a:lt1>
        <a:srgbClr val="F3FAFB"/>
      </a:lt1>
      <a:dk2>
        <a:srgbClr val="4B666C"/>
      </a:dk2>
      <a:lt2>
        <a:srgbClr val="DDE6E8"/>
      </a:lt2>
      <a:accent1>
        <a:srgbClr val="0E7490"/>
      </a:accent1>
      <a:accent2>
        <a:srgbClr val="0891B2"/>
      </a:accent2>
      <a:accent3>
        <a:srgbClr val="5EEAD4"/>
      </a:accent3>
      <a:accent4>
        <a:srgbClr val="155E75"/>
      </a:accent4>
      <a:accent5>
        <a:srgbClr val="CCFBF1"/>
      </a:accent5>
      <a:accent6>
        <a:srgbClr val="FEF3C7"/>
      </a:accent6>
      <a:hlink>
        <a:srgbClr val="0563C1"/>
      </a:hlink>
      <a:folHlink>
        <a:srgbClr val="954F72"/>
      </a:folHlink>
    </a:clrScheme>
    <a:fontScheme name="Paritty Pitch Deck">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1785</Words>
  <Application>Microsoft Macintosh PowerPoint</Application>
  <PresentationFormat>Widescreen</PresentationFormat>
  <Paragraphs>202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Inter</vt:lpstr>
      <vt:lpstr>Paritty Pitch Deck</vt:lpstr>
      <vt:lpstr>Paritty</vt:lpstr>
      <vt:lpstr>Cleanup starts too late.</vt:lpstr>
      <vt:lpstr>Clean continuously, not at the end.</vt:lpstr>
      <vt:lpstr>One work queue per role.</vt:lpstr>
      <vt:lpstr>Every row checked the day it arrives.</vt:lpstr>
      <vt:lpstr>Safety, labs and liver signals.</vt:lpstr>
      <vt:lpstr>Spot risk early. Know the lock date.</vt:lpstr>
      <vt:lpstr>Four more tools for the team.</vt:lpstr>
      <vt:lpstr>Gemini drafts. Code verifies. People approve.</vt:lpstr>
      <vt:lpstr>One Postgres for the whole trial.</vt:lpstr>
      <vt:lpstr>Five rules that never bend.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Paritty Pitch Deck</dc:title>
  <dc:subject/>
  <dc:creator/>
  <cp:lastModifiedBy>Tirth Dhedhi</cp:lastModifiedBy>
  <cp:revision>3</cp:revision>
  <dcterms:created xsi:type="dcterms:W3CDTF">2026-10-11T13:41:36Z</dcterms:created>
  <dcterms:modified xsi:type="dcterms:W3CDTF">2026-10-11T13:48:46Z</dcterms:modified>
</cp:coreProperties>
</file>